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  <p:sldId id="269" r:id="rId18"/>
    <p:sldId id="270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Anotaciones</c:v>
                </c:pt>
              </c:strCache>
            </c:strRef>
          </c:tx>
          <c:spPr>
            <a:solidFill>
              <a:srgbClr val="27AE60"/>
            </a:solidFill>
            <a:ln w="0"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27AE60"/>
              </a:solidFill>
              <a:ln w="0"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2C3E50"/>
              </a:solidFill>
              <a:ln w="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ln w="0">
                <a:noFill/>
              </a:ln>
            </c:spPr>
          </c:dPt>
          <c:dLbls>
            <c:dLbl>
              <c:idx val="0"/>
              <c:layout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s-ES" sz="1000" b="0" i="0" u="none" strike="noStrike" kern="1200" spc="-1" baseline="0">
                      <a:solidFill>
                        <a:srgbClr val="2C3E50"/>
                      </a:solidFill>
                      <a:latin typeface="Arial"/>
                      <a:ea typeface="DejaVu Sans" panose="020B0606030804020204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s-ES" sz="1000" b="0" i="0" u="none" strike="noStrike" kern="1200" spc="-1" baseline="0">
                      <a:solidFill>
                        <a:srgbClr val="2C3E50"/>
                      </a:solidFill>
                      <a:latin typeface="Arial"/>
                      <a:ea typeface="DejaVu Sans" panose="020B0606030804020204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s-ES" sz="1000" b="0" i="0" u="none" strike="noStrike" kern="1200" spc="-1" baseline="0">
                      <a:solidFill>
                        <a:srgbClr val="2C3E50"/>
                      </a:solidFill>
                      <a:latin typeface="Arial"/>
                      <a:ea typeface="DejaVu Sans" panose="020B0606030804020204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/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1000" b="0" i="0" u="none" strike="noStrike" kern="1200" spc="-1" baseline="0">
                    <a:solidFill>
                      <a:srgbClr val="2C3E50"/>
                    </a:solidFill>
                    <a:latin typeface="Arial"/>
                    <a:ea typeface="DejaVu Sans" panose="020B0606030804020204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categories</c:f>
              <c:strCache>
                <c:ptCount val="3"/>
                <c:pt idx="0">
                  <c:v>Peatones</c:v>
                </c:pt>
                <c:pt idx="1">
                  <c:v>Vehículos</c:v>
                </c:pt>
                <c:pt idx="2">
                  <c:v>Emergencia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3200</c:v>
                </c:pt>
                <c:pt idx="1">
                  <c:v>4800</c:v>
                </c:pt>
                <c:pt idx="2">
                  <c:v>380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overlap val="0"/>
        <c:axId val="44725178"/>
        <c:axId val="9432642"/>
      </c:barChart>
      <c:catAx>
        <c:axId val="4472517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100" b="0" i="0" u="none" strike="noStrike" kern="1200" spc="-1" baseline="0">
                <a:solidFill>
                  <a:srgbClr val="2C3E50"/>
                </a:solidFill>
                <a:latin typeface="Arial"/>
                <a:ea typeface="DejaVu Sans" panose="020B0606030804020204"/>
                <a:cs typeface="+mn-cs"/>
              </a:defRPr>
            </a:pPr>
          </a:p>
        </c:txPr>
        <c:crossAx val="9432642"/>
        <c:crosses val="autoZero"/>
        <c:auto val="1"/>
        <c:lblAlgn val="ctr"/>
        <c:lblOffset val="100"/>
        <c:noMultiLvlLbl val="0"/>
      </c:catAx>
      <c:valAx>
        <c:axId val="9432642"/>
        <c:scaling>
          <c:orientation val="minMax"/>
        </c:scaling>
        <c:delete val="0"/>
        <c:axPos val="l"/>
        <c:majorGridlines>
          <c:spPr>
            <a:ln w="648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900" b="0" i="0" u="none" strike="noStrike" kern="1200" spc="-1" baseline="0">
                <a:solidFill>
                  <a:srgbClr val="95A5A6"/>
                </a:solidFill>
                <a:latin typeface="Arial"/>
                <a:ea typeface="DejaVu Sans" panose="020B0606030804020204"/>
                <a:cs typeface="+mn-cs"/>
              </a:defRPr>
            </a:pPr>
          </a:p>
        </c:txPr>
        <c:crossAx val="4472517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  <c:showDLblsOverMax val="0"/>
  </c:chart>
  <c:spPr>
    <a:solidFill>
      <a:srgbClr val="FFFFFF"/>
    </a:solidFill>
    <a:ln w="9360">
      <a:noFill/>
    </a:ln>
  </c:spPr>
  <c:txPr>
    <a:bodyPr/>
    <a:lstStyle/>
    <a:p>
      <a:pPr>
        <a:defRPr lang="es-E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s-CL" sz="4400" b="0" strike="noStrike" spc="-1">
                <a:latin typeface="Arial"/>
              </a:rPr>
              <a:t>Pulse para desplazar la diapositiva</a:t>
            </a:r>
            <a:endParaRPr lang="es-CL" sz="4400" b="0" strike="noStrike" spc="-1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s-CL" sz="2000" b="0" strike="noStrike" spc="-1">
                <a:latin typeface="Arial"/>
              </a:rPr>
              <a:t>Pulse para editar el formato de las notas</a:t>
            </a:r>
            <a:endParaRPr lang="es-CL" sz="2000" b="0" strike="noStrike" spc="-1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r>
              <a:rPr lang="es-CL" sz="1400" b="0" strike="noStrike" spc="-1">
                <a:latin typeface="Times New Roman"/>
              </a:rPr>
              <a:t>&lt;cabecera&gt;</a:t>
            </a:r>
            <a:endParaRPr lang="es-CL" sz="1400" b="0" strike="noStrike" spc="-1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s-CL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s-CL" sz="1400" b="0" strike="noStrike" spc="-1">
                <a:latin typeface="Times New Roman"/>
              </a:rPr>
              <a:t>&lt;fecha/hora&gt;</a:t>
            </a:r>
            <a:endParaRPr lang="es-CL" sz="1400" b="0" strike="noStrike" spc="-1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s-CL" sz="1400" b="0" strike="noStrike" spc="-1">
                <a:latin typeface="Times New Roman"/>
              </a:defRPr>
            </a:lvl1pPr>
          </a:lstStyle>
          <a:p>
            <a:r>
              <a:rPr lang="es-CL" sz="1400" b="0" strike="noStrike" spc="-1">
                <a:latin typeface="Times New Roman"/>
              </a:rPr>
              <a:t>&lt;pie de página&gt;</a:t>
            </a:r>
            <a:endParaRPr lang="es-CL" sz="1400" b="0" strike="noStrike" spc="-1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s-CL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E0A71030-9C27-4E80-8931-5D081DC414A8}" type="slidenum">
              <a:rPr lang="es-CL" sz="1400" b="0" strike="noStrike" spc="-1">
                <a:latin typeface="Times New Roman"/>
              </a:rPr>
            </a:fld>
            <a:endParaRPr lang="es-CL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s-CL" sz="2000" b="0" strike="noStrike" spc="-1"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92A6644-0AC2-4338-AD51-61A0ABB5A5EF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s-CL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s-CL" sz="2000" b="0" strike="noStrike" spc="-1"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333ECE3-D498-4C0A-8986-3D99319891AC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s-CL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s-CL" sz="2000" b="0" strike="noStrike" spc="-1"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20EB50B-BAAF-4774-85E8-F10C77874C77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s-CL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s-CL" sz="2000" b="0" strike="noStrike" spc="-1"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E3A148B-180E-4D43-AF9C-900BF44E2701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s-CL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s-CL" sz="2000" b="0" strike="noStrike" spc="-1"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4A0AB55-DD8B-4651-A1DD-688B442EBC47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s-CL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s-CL" sz="2000" b="0" strike="noStrike" spc="-1"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5DCA29-671C-44D9-B9C0-A6F8A579E4D5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s-CL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s-CL" sz="2000" b="0" strike="noStrike" spc="-1"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E12B7B-8ACB-49C5-89AA-61324B3D885D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s-CL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s-CL" sz="2000" b="0" strike="noStrike" spc="-1"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A328928-8A12-4E0D-87B6-CE608653EFCA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s-CL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s-CL" sz="2000" b="0" strike="noStrike" spc="-1"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E4DB75-E93F-4F3C-BA88-FD1451B8C755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s-CL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s-CL" sz="2000" b="0" strike="noStrike" spc="-1"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3A1ADC-0A63-4ADC-8540-E8878A743D65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s-CL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s-CL" sz="2000" b="0" strike="noStrike" spc="-1"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DBFE23-CE2D-4791-ACB1-853DEB3857E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s-CL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s-CL" sz="2000" b="0" strike="noStrike" spc="-1"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E54095-0BA7-46D6-8EF4-B8D36AF254A1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s-CL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s-CL" sz="2000" b="0" strike="noStrike" spc="-1"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1749AB-8261-4EEF-9135-84CB5C2E4392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s-CL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s-CL" sz="2000" b="0" strike="noStrike" spc="-1"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0A779A-47EB-4677-8ADF-B00E77E3C346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s-CL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s-CL" sz="2000" b="0" strike="noStrike" spc="-1">
              <a:latin typeface="Arial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88C8A0-200D-4514-9FE8-639F2F010A0A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</a:fld>
            <a:endParaRPr lang="es-CL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s-CL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s-C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s-CL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s-CL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s-CL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s-C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s-CL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s-CL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s-CL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s-CL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s-CL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s-CL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s-C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s-CL" sz="4400" b="0" strike="noStrike" spc="-1">
                <a:latin typeface="Arial"/>
              </a:rPr>
              <a:t>Pulse para editar el formato del texto de título</a:t>
            </a:r>
            <a:endParaRPr lang="es-CL" sz="4400" b="0" strike="noStrike" spc="-1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L" sz="3200" b="0" strike="noStrike" spc="-1">
                <a:latin typeface="Arial"/>
              </a:rPr>
              <a:t>Pulse para editar el formato de texto del esquema</a:t>
            </a:r>
            <a:endParaRPr lang="es-CL" sz="32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2800" b="0" strike="noStrike" spc="-1">
                <a:latin typeface="Arial"/>
              </a:rPr>
              <a:t>Segundo nivel del esquema</a:t>
            </a:r>
            <a:endParaRPr lang="es-CL" sz="2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L" sz="2400" b="0" strike="noStrike" spc="-1">
                <a:latin typeface="Arial"/>
              </a:rPr>
              <a:t>Tercer nivel del esquema</a:t>
            </a:r>
            <a:endParaRPr lang="es-CL" sz="24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2000" b="0" strike="noStrike" spc="-1">
                <a:latin typeface="Arial"/>
              </a:rPr>
              <a:t>Cuarto nivel del esquema</a:t>
            </a:r>
            <a:endParaRPr lang="es-CL" sz="20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L" sz="2000" b="0" strike="noStrike" spc="-1">
                <a:latin typeface="Arial"/>
              </a:rPr>
              <a:t>Quinto nivel del esquema</a:t>
            </a:r>
            <a:endParaRPr lang="es-CL" sz="20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L" sz="2000" b="0" strike="noStrike" spc="-1">
                <a:latin typeface="Arial"/>
              </a:rPr>
              <a:t>Sexto nivel del esquema</a:t>
            </a:r>
            <a:endParaRPr lang="es-CL" sz="20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L" sz="2000" b="0" strike="noStrike" spc="-1">
                <a:latin typeface="Arial"/>
              </a:rPr>
              <a:t>Séptimo nivel del esquema</a:t>
            </a:r>
            <a:endParaRPr lang="es-CL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731520" y="1097280"/>
            <a:ext cx="502200" cy="502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p/>
        </p:txBody>
      </p:sp>
      <p:sp>
        <p:nvSpPr>
          <p:cNvPr id="45" name="Shape 1"/>
          <p:cNvSpPr/>
          <p:nvPr/>
        </p:nvSpPr>
        <p:spPr>
          <a:xfrm>
            <a:off x="731520" y="1737360"/>
            <a:ext cx="502200" cy="502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p/>
        </p:txBody>
      </p:sp>
      <p:sp>
        <p:nvSpPr>
          <p:cNvPr id="46" name="Shape 2"/>
          <p:cNvSpPr/>
          <p:nvPr/>
        </p:nvSpPr>
        <p:spPr>
          <a:xfrm>
            <a:off x="731520" y="2377440"/>
            <a:ext cx="502200" cy="502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p/>
        </p:txBody>
      </p:sp>
      <p:sp>
        <p:nvSpPr>
          <p:cNvPr id="47" name="Text 3"/>
          <p:cNvSpPr/>
          <p:nvPr/>
        </p:nvSpPr>
        <p:spPr>
          <a:xfrm>
            <a:off x="1645920" y="118872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395">
                <a:solidFill>
                  <a:srgbClr val="F39C12"/>
                </a:solidFill>
                <a:latin typeface="Calibri"/>
                <a:ea typeface="Calibri"/>
              </a:rPr>
              <a:t>PROYECTO FINAL · DIPLOMADO IA · 2026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645920" y="1564200"/>
            <a:ext cx="1005768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rgbClr val="FFFFFF"/>
                </a:solidFill>
                <a:latin typeface="Georgia"/>
                <a:ea typeface="Georgia"/>
              </a:rPr>
              <a:t>Sistema de Semáforo Inteligente</a:t>
            </a:r>
            <a:endParaRPr lang="es-CL" sz="4400" b="0" strike="noStrike" spc="-1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1645920" y="2606040"/>
            <a:ext cx="1005768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ECF0F1"/>
                </a:solidFill>
                <a:latin typeface="Calibri"/>
                <a:ea typeface="Calibri"/>
              </a:rPr>
              <a:t>Detección de objetos y lógica de priorización adaptativa</a:t>
            </a:r>
            <a:endParaRPr lang="es-CL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ECF0F1"/>
                </a:solidFill>
                <a:latin typeface="Calibri"/>
                <a:ea typeface="Calibri"/>
              </a:rPr>
              <a:t>con Deep Learning, robusta ante condiciones climáticas adversas</a:t>
            </a:r>
            <a:endParaRPr lang="es-CL" sz="1800" b="0" strike="noStrike" spc="-1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1645920" y="3703320"/>
            <a:ext cx="3657600" cy="360"/>
          </a:xfrm>
          <a:prstGeom prst="line">
            <a:avLst/>
          </a:prstGeom>
          <a:ln w="3175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1" name="Text 7"/>
          <p:cNvSpPr/>
          <p:nvPr/>
        </p:nvSpPr>
        <p:spPr>
          <a:xfrm>
            <a:off x="1645920" y="393192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libri"/>
                <a:ea typeface="Calibri"/>
              </a:rPr>
              <a:t>Universidad del Bío-Bío</a:t>
            </a:r>
            <a:endParaRPr lang="es-CL" sz="1600" b="0" strike="noStrike" spc="-1"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1645920" y="4251960"/>
            <a:ext cx="10057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0" strike="noStrike" spc="-1">
                <a:solidFill>
                  <a:srgbClr val="95A5A6"/>
                </a:solidFill>
                <a:latin typeface="Calibri"/>
                <a:ea typeface="Calibri"/>
              </a:rPr>
              <a:t>Departamento de Formación Continua · Sede Concepción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1645920" y="4937760"/>
            <a:ext cx="10057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0" strike="noStrike" spc="-1">
                <a:solidFill>
                  <a:srgbClr val="ECF0F1"/>
                </a:solidFill>
                <a:latin typeface="Calibri"/>
                <a:ea typeface="Calibri"/>
              </a:rPr>
              <a:t>Estudiante: </a:t>
            </a:r>
            <a:r>
              <a:rPr lang="es-ES_tradnl" altLang="en-US" sz="1300" b="0" strike="noStrike" spc="-1">
                <a:solidFill>
                  <a:srgbClr val="ECF0F1"/>
                </a:solidFill>
                <a:latin typeface="Calibri"/>
                <a:ea typeface="Calibri"/>
              </a:rPr>
              <a:t>Fanny Balchen, Diego Mardones, Iván Viveros</a:t>
            </a:r>
            <a:endParaRPr lang="es-ES_tradnl" altLang="en-US" sz="1300" b="0" strike="noStrike" spc="-1">
              <a:solidFill>
                <a:srgbClr val="ECF0F1"/>
              </a:solidFill>
              <a:latin typeface="Calibri"/>
              <a:ea typeface="Calibri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1645920" y="5212080"/>
            <a:ext cx="10057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_tradnl" altLang="en-US" sz="1300" b="0" strike="noStrike" spc="-1">
                <a:solidFill>
                  <a:srgbClr val="ECF0F1"/>
                </a:solidFill>
                <a:latin typeface="Calibri"/>
                <a:ea typeface="Calibri"/>
              </a:rPr>
              <a:t>30</a:t>
            </a:r>
            <a:r>
              <a:rPr lang="en-US" sz="1300" b="0" strike="noStrike" spc="-1">
                <a:solidFill>
                  <a:srgbClr val="ECF0F1"/>
                </a:solidFill>
                <a:latin typeface="Calibri"/>
                <a:ea typeface="Calibri"/>
              </a:rPr>
              <a:t> de junio de 2026</a:t>
            </a:r>
            <a:endParaRPr lang="es-CL" sz="13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457200" y="320040"/>
            <a:ext cx="10965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strike="noStrike" spc="-1">
                <a:solidFill>
                  <a:srgbClr val="C0392B"/>
                </a:solidFill>
                <a:latin typeface="Georgia"/>
                <a:ea typeface="Georgia"/>
              </a:rPr>
              <a:t>01</a:t>
            </a:r>
            <a:endParaRPr lang="es-CL" sz="6000" b="0" strike="noStrike" spc="-1"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1554480" y="502920"/>
            <a:ext cx="1014912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strike="noStrike" spc="-1">
                <a:solidFill>
                  <a:srgbClr val="2C3E50"/>
                </a:solidFill>
                <a:latin typeface="Georgia"/>
                <a:ea typeface="Georgia"/>
              </a:rPr>
              <a:t>El problema</a:t>
            </a:r>
            <a:endParaRPr lang="es-CL" sz="3000" b="0" strike="noStrike" spc="-1"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457200" y="1280160"/>
            <a:ext cx="456480" cy="54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8" name="Text 3"/>
          <p:cNvSpPr/>
          <p:nvPr/>
        </p:nvSpPr>
        <p:spPr>
          <a:xfrm>
            <a:off x="1554480" y="141732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Tres dimensiones que se combinan en una intersección urbana</a:t>
            </a:r>
            <a:endParaRPr lang="es-CL" sz="1400" b="0" strike="noStrike" spc="-1"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640080" y="2103120"/>
            <a:ext cx="3611160" cy="33825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  <a:effectLst>
            <a:outerShdw blurRad="10152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0" name="Shape 5"/>
          <p:cNvSpPr/>
          <p:nvPr/>
        </p:nvSpPr>
        <p:spPr>
          <a:xfrm>
            <a:off x="640080" y="2103120"/>
            <a:ext cx="109080" cy="33825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1" name="Shape 6"/>
          <p:cNvSpPr/>
          <p:nvPr/>
        </p:nvSpPr>
        <p:spPr>
          <a:xfrm>
            <a:off x="1097280" y="2377440"/>
            <a:ext cx="822240" cy="82224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62" name="Image 0" descr="preencode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1280160" y="256032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63" name="Text 7"/>
          <p:cNvSpPr/>
          <p:nvPr/>
        </p:nvSpPr>
        <p:spPr>
          <a:xfrm>
            <a:off x="1005840" y="3337560"/>
            <a:ext cx="31996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strike="noStrike" spc="-1">
                <a:solidFill>
                  <a:srgbClr val="2C3E50"/>
                </a:solidFill>
                <a:latin typeface="Georgia"/>
                <a:ea typeface="Georgia"/>
              </a:rPr>
              <a:t>Congestión vehicular</a:t>
            </a:r>
            <a:endParaRPr lang="es-CL" sz="1800" b="0" strike="noStrike" spc="-1"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1005840" y="3840480"/>
            <a:ext cx="310824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Los semáforos de tiempo fijo no se adaptan al flujo real. Generan demoras innecesarias, mayor consumo y emisiones.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65" name="Shape 9"/>
          <p:cNvSpPr/>
          <p:nvPr/>
        </p:nvSpPr>
        <p:spPr>
          <a:xfrm>
            <a:off x="4526280" y="2103120"/>
            <a:ext cx="3611160" cy="33825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  <a:effectLst>
            <a:outerShdw blurRad="10152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6" name="Shape 10"/>
          <p:cNvSpPr/>
          <p:nvPr/>
        </p:nvSpPr>
        <p:spPr>
          <a:xfrm>
            <a:off x="4526280" y="2103120"/>
            <a:ext cx="109080" cy="3382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7" name="Shape 11"/>
          <p:cNvSpPr/>
          <p:nvPr/>
        </p:nvSpPr>
        <p:spPr>
          <a:xfrm>
            <a:off x="4983480" y="2377440"/>
            <a:ext cx="822240" cy="8222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68" name="Image 1" descr="preencode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5166360" y="256032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69" name="Text 12"/>
          <p:cNvSpPr/>
          <p:nvPr/>
        </p:nvSpPr>
        <p:spPr>
          <a:xfrm>
            <a:off x="4892040" y="3337560"/>
            <a:ext cx="31996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strike="noStrike" spc="-1">
                <a:solidFill>
                  <a:srgbClr val="2C3E50"/>
                </a:solidFill>
                <a:latin typeface="Georgia"/>
                <a:ea typeface="Georgia"/>
              </a:rPr>
              <a:t>Emergencias bloqueadas</a:t>
            </a:r>
            <a:endParaRPr lang="es-CL" sz="1800" b="0" strike="noStrike" spc="-1"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4892040" y="3840480"/>
            <a:ext cx="310824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Ambulancias, bomberos y carabineros pierden minutos críticos en cruces. Un retraso puede costar vidas.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8412480" y="2103120"/>
            <a:ext cx="3611160" cy="33825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  <a:effectLst>
            <a:outerShdw blurRad="10152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2" name="Shape 15"/>
          <p:cNvSpPr/>
          <p:nvPr/>
        </p:nvSpPr>
        <p:spPr>
          <a:xfrm>
            <a:off x="8412480" y="2103120"/>
            <a:ext cx="109080" cy="33825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3" name="Shape 16"/>
          <p:cNvSpPr/>
          <p:nvPr/>
        </p:nvSpPr>
        <p:spPr>
          <a:xfrm>
            <a:off x="8869680" y="2377440"/>
            <a:ext cx="822240" cy="8222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74" name="Image 2" descr="preencoded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9052560" y="256032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75" name="Text 17"/>
          <p:cNvSpPr/>
          <p:nvPr/>
        </p:nvSpPr>
        <p:spPr>
          <a:xfrm>
            <a:off x="8778240" y="3337560"/>
            <a:ext cx="31996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strike="noStrike" spc="-1">
                <a:solidFill>
                  <a:srgbClr val="2C3E50"/>
                </a:solidFill>
                <a:latin typeface="Georgia"/>
                <a:ea typeface="Georgia"/>
              </a:rPr>
              <a:t>Clima de Concepción</a:t>
            </a:r>
            <a:endParaRPr lang="es-CL" sz="1800" b="0" strike="noStrike" spc="-1">
              <a:latin typeface="Arial"/>
            </a:endParaRPr>
          </a:p>
        </p:txBody>
      </p:sp>
      <p:sp>
        <p:nvSpPr>
          <p:cNvPr id="76" name="Text 18"/>
          <p:cNvSpPr/>
          <p:nvPr/>
        </p:nvSpPr>
        <p:spPr>
          <a:xfrm>
            <a:off x="8778240" y="3840480"/>
            <a:ext cx="310824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Neblina densa frecuente en mañanas invernales, lluvia y baja luminancia ponen a prueba cualquier sistema de visión.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77" name="Shape 19"/>
          <p:cNvSpPr/>
          <p:nvPr/>
        </p:nvSpPr>
        <p:spPr>
          <a:xfrm>
            <a:off x="640080" y="5715000"/>
            <a:ext cx="10834920" cy="5479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8" name="Text 20"/>
          <p:cNvSpPr/>
          <p:nvPr/>
        </p:nvSpPr>
        <p:spPr>
          <a:xfrm>
            <a:off x="640080" y="5715000"/>
            <a:ext cx="10834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FFFFFF"/>
                </a:solidFill>
                <a:latin typeface="Calibri"/>
                <a:ea typeface="Calibri"/>
              </a:rPr>
              <a:t>¿Cómo construir un sistema que </a:t>
            </a:r>
            <a:r>
              <a:rPr lang="en-US" sz="1400" b="1" i="1" strike="noStrike" spc="-1">
                <a:solidFill>
                  <a:srgbClr val="F39C12"/>
                </a:solidFill>
                <a:latin typeface="Calibri"/>
                <a:ea typeface="Calibri"/>
              </a:rPr>
              <a:t>priorice emergencias</a:t>
            </a:r>
            <a:r>
              <a:rPr lang="en-US" sz="1400" b="0" i="1" strike="noStrike" spc="-1">
                <a:solidFill>
                  <a:srgbClr val="FFFFFF"/>
                </a:solidFill>
                <a:latin typeface="Calibri"/>
                <a:ea typeface="Calibri"/>
              </a:rPr>
              <a:t>, </a:t>
            </a:r>
            <a:r>
              <a:rPr lang="en-US" sz="1400" b="1" i="1" strike="noStrike" spc="-1">
                <a:solidFill>
                  <a:srgbClr val="F39C12"/>
                </a:solidFill>
                <a:latin typeface="Calibri"/>
                <a:ea typeface="Calibri"/>
              </a:rPr>
              <a:t>se adapte al tráfico</a:t>
            </a:r>
            <a:r>
              <a:rPr lang="en-US" sz="1400" b="0" i="1" strike="noStrike" spc="-1">
                <a:solidFill>
                  <a:srgbClr val="FFFFFF"/>
                </a:solidFill>
                <a:latin typeface="Calibri"/>
                <a:ea typeface="Calibri"/>
              </a:rPr>
              <a:t> y </a:t>
            </a:r>
            <a:r>
              <a:rPr lang="en-US" sz="1400" b="1" i="1" strike="noStrike" spc="-1">
                <a:solidFill>
                  <a:srgbClr val="F39C12"/>
                </a:solidFill>
                <a:latin typeface="Calibri"/>
                <a:ea typeface="Calibri"/>
              </a:rPr>
              <a:t>no falle en niebla</a:t>
            </a:r>
            <a:r>
              <a:rPr lang="en-US" sz="1400" b="0" i="1" strike="noStrike" spc="-1">
                <a:solidFill>
                  <a:srgbClr val="FFFFFF"/>
                </a:solidFill>
                <a:latin typeface="Calibri"/>
                <a:ea typeface="Calibri"/>
              </a:rPr>
              <a:t>?</a:t>
            </a:r>
            <a:endParaRPr lang="es-CL" sz="1400" b="0" strike="noStrike" spc="-1"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457200" y="6446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Sistema de Semáforo Inteligente · Diplomado IA UBB 2026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80" name="Text 22"/>
          <p:cNvSpPr/>
          <p:nvPr/>
        </p:nvSpPr>
        <p:spPr>
          <a:xfrm>
            <a:off x="11247120" y="644652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2 / 15</a:t>
            </a:r>
            <a:endParaRPr lang="es-CL" sz="9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57200" y="320040"/>
            <a:ext cx="10965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strike="noStrike" spc="-1">
                <a:solidFill>
                  <a:srgbClr val="C0392B"/>
                </a:solidFill>
                <a:latin typeface="Georgia"/>
                <a:ea typeface="Georgia"/>
              </a:rPr>
              <a:t>02</a:t>
            </a:r>
            <a:endParaRPr lang="es-CL" sz="6000" b="0" strike="noStrike" spc="-1"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1554480" y="502920"/>
            <a:ext cx="1014912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strike="noStrike" spc="-1">
                <a:solidFill>
                  <a:srgbClr val="2C3E50"/>
                </a:solidFill>
                <a:latin typeface="Georgia"/>
                <a:ea typeface="Georgia"/>
              </a:rPr>
              <a:t>Objetivos del proyecto</a:t>
            </a:r>
            <a:endParaRPr lang="es-CL" sz="3000" b="0" strike="noStrike" spc="-1"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57200" y="1280160"/>
            <a:ext cx="456480" cy="54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4" name="Shape 3"/>
          <p:cNvSpPr/>
          <p:nvPr/>
        </p:nvSpPr>
        <p:spPr>
          <a:xfrm>
            <a:off x="640080" y="1828800"/>
            <a:ext cx="4571280" cy="41140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5" name="Shape 4"/>
          <p:cNvSpPr/>
          <p:nvPr/>
        </p:nvSpPr>
        <p:spPr>
          <a:xfrm>
            <a:off x="914400" y="2103120"/>
            <a:ext cx="776520" cy="7765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86" name="Image 0" descr="preencode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502200" cy="502200"/>
          </a:xfrm>
          <a:prstGeom prst="rect">
            <a:avLst/>
          </a:prstGeom>
          <a:ln w="0">
            <a:noFill/>
          </a:ln>
        </p:spPr>
      </p:pic>
      <p:sp>
        <p:nvSpPr>
          <p:cNvPr id="87" name="Text 5"/>
          <p:cNvSpPr/>
          <p:nvPr/>
        </p:nvSpPr>
        <p:spPr>
          <a:xfrm>
            <a:off x="1828800" y="214884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296">
                <a:solidFill>
                  <a:srgbClr val="F39C12"/>
                </a:solidFill>
                <a:latin typeface="Calibri"/>
                <a:ea typeface="Calibri"/>
              </a:rPr>
              <a:t>OBJETIVO GENERAL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914400" y="2560320"/>
            <a:ext cx="4022640" cy="2742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  <a:ea typeface="Calibri"/>
              </a:rPr>
              <a:t>Desarrollar una aplicación de Deep Learning que detecte peatones, vehículos y vehículos de emergencia, y controle adaptativamente un semáforo con priorización jerárquica.</a:t>
            </a:r>
            <a:endParaRPr lang="es-CL" sz="1400" b="0" strike="noStrike" spc="-1"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5669280" y="1828800"/>
            <a:ext cx="5942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296">
                <a:solidFill>
                  <a:srgbClr val="C0392B"/>
                </a:solidFill>
                <a:latin typeface="Calibri"/>
                <a:ea typeface="Calibri"/>
              </a:rPr>
              <a:t>OBJETIVOS ESPECÍFICOS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5669280" y="2322720"/>
            <a:ext cx="319320" cy="319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91" name="Text 9"/>
          <p:cNvSpPr/>
          <p:nvPr/>
        </p:nvSpPr>
        <p:spPr>
          <a:xfrm>
            <a:off x="5669280" y="232272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6126480" y="2286000"/>
            <a:ext cx="53942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Construir o adaptar un dataset etiquetado con las 3 clases.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5669280" y="2825640"/>
            <a:ext cx="319320" cy="319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94" name="Text 12"/>
          <p:cNvSpPr/>
          <p:nvPr/>
        </p:nvSpPr>
        <p:spPr>
          <a:xfrm>
            <a:off x="5669280" y="282564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6126480" y="2788920"/>
            <a:ext cx="53942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Aplicar buenas prácticas: split estratificado, augmentation, transfer learning.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5669280" y="3328560"/>
            <a:ext cx="319320" cy="319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97" name="Text 15"/>
          <p:cNvSpPr/>
          <p:nvPr/>
        </p:nvSpPr>
        <p:spPr>
          <a:xfrm>
            <a:off x="5669280" y="332856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6126480" y="3291840"/>
            <a:ext cx="53942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Entrenar YOLOv8 con pesos preentrenados en COCO.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99" name="Shape 17"/>
          <p:cNvSpPr/>
          <p:nvPr/>
        </p:nvSpPr>
        <p:spPr>
          <a:xfrm>
            <a:off x="5669280" y="3831480"/>
            <a:ext cx="319320" cy="319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00" name="Text 18"/>
          <p:cNvSpPr/>
          <p:nvPr/>
        </p:nvSpPr>
        <p:spPr>
          <a:xfrm>
            <a:off x="5669280" y="383148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101" name="Text 19"/>
          <p:cNvSpPr/>
          <p:nvPr/>
        </p:nvSpPr>
        <p:spPr>
          <a:xfrm>
            <a:off x="6126480" y="3794760"/>
            <a:ext cx="53942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Evaluar con matriz de confusión, mAP, precisión, recall — priorizando recall de emergencia.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102" name="Shape 20"/>
          <p:cNvSpPr/>
          <p:nvPr/>
        </p:nvSpPr>
        <p:spPr>
          <a:xfrm>
            <a:off x="5669280" y="4334400"/>
            <a:ext cx="319320" cy="319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03" name="Text 21"/>
          <p:cNvSpPr/>
          <p:nvPr/>
        </p:nvSpPr>
        <p:spPr>
          <a:xfrm>
            <a:off x="5669280" y="433440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104" name="Text 22"/>
          <p:cNvSpPr/>
          <p:nvPr/>
        </p:nvSpPr>
        <p:spPr>
          <a:xfrm>
            <a:off x="6126480" y="4297680"/>
            <a:ext cx="53942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Diseñar el módulo de priorización con ventana de estabilidad.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105" name="Shape 23"/>
          <p:cNvSpPr/>
          <p:nvPr/>
        </p:nvSpPr>
        <p:spPr>
          <a:xfrm>
            <a:off x="5669280" y="4837320"/>
            <a:ext cx="319320" cy="319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06" name="Text 24"/>
          <p:cNvSpPr/>
          <p:nvPr/>
        </p:nvSpPr>
        <p:spPr>
          <a:xfrm>
            <a:off x="5669280" y="483732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107" name="Text 25"/>
          <p:cNvSpPr/>
          <p:nvPr/>
        </p:nvSpPr>
        <p:spPr>
          <a:xfrm>
            <a:off x="6126480" y="4800600"/>
            <a:ext cx="53942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Garantizar robustez climática con detector de visibilidad y falla segura.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108" name="Shape 26"/>
          <p:cNvSpPr/>
          <p:nvPr/>
        </p:nvSpPr>
        <p:spPr>
          <a:xfrm>
            <a:off x="5669280" y="5340240"/>
            <a:ext cx="319320" cy="319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09" name="Text 27"/>
          <p:cNvSpPr/>
          <p:nvPr/>
        </p:nvSpPr>
        <p:spPr>
          <a:xfrm>
            <a:off x="5669280" y="534024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110" name="Text 28"/>
          <p:cNvSpPr/>
          <p:nvPr/>
        </p:nvSpPr>
        <p:spPr>
          <a:xfrm>
            <a:off x="6126480" y="5303520"/>
            <a:ext cx="53942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Integrar todo en un pipeline end-to-end.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111" name="Text 29"/>
          <p:cNvSpPr/>
          <p:nvPr/>
        </p:nvSpPr>
        <p:spPr>
          <a:xfrm>
            <a:off x="457200" y="6446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Sistema de Semáforo Inteligente · Diplomado IA UBB 2026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112" name="Text 30"/>
          <p:cNvSpPr/>
          <p:nvPr/>
        </p:nvSpPr>
        <p:spPr>
          <a:xfrm>
            <a:off x="11247120" y="644652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3 / 15</a:t>
            </a:r>
            <a:endParaRPr lang="es-CL" sz="9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57200" y="320040"/>
            <a:ext cx="10965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strike="noStrike" spc="-1">
                <a:solidFill>
                  <a:srgbClr val="C0392B"/>
                </a:solidFill>
                <a:latin typeface="Georgia"/>
                <a:ea typeface="Georgia"/>
              </a:rPr>
              <a:t>03</a:t>
            </a:r>
            <a:endParaRPr lang="es-CL" sz="6000" b="0" strike="noStrike" spc="-1"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1554480" y="502920"/>
            <a:ext cx="1014912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strike="noStrike" spc="-1">
                <a:solidFill>
                  <a:srgbClr val="2C3E50"/>
                </a:solidFill>
                <a:latin typeface="Georgia"/>
                <a:ea typeface="Georgia"/>
              </a:rPr>
              <a:t>Estado del arte</a:t>
            </a:r>
            <a:endParaRPr lang="es-CL" sz="3000" b="0" strike="noStrike" spc="-1"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57200" y="1280160"/>
            <a:ext cx="456480" cy="54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6" name="Text 3"/>
          <p:cNvSpPr/>
          <p:nvPr/>
        </p:nvSpPr>
        <p:spPr>
          <a:xfrm>
            <a:off x="1554480" y="141732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Detección de objetos para sistemas de transporte inteligente</a:t>
            </a:r>
            <a:endParaRPr lang="es-CL" sz="1400" b="0" strike="noStrike" spc="-1"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640080" y="1920240"/>
            <a:ext cx="5302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2C3E50"/>
                </a:solidFill>
                <a:latin typeface="Georgia"/>
                <a:ea typeface="Georgia"/>
              </a:rPr>
              <a:t>Evolución de la detección</a:t>
            </a:r>
            <a:endParaRPr lang="es-CL" sz="1600" b="0" strike="noStrike" spc="-1">
              <a:latin typeface="Arial"/>
            </a:endParaRPr>
          </a:p>
        </p:txBody>
      </p:sp>
      <p:sp>
        <p:nvSpPr>
          <p:cNvPr id="118" name="Shape 5"/>
          <p:cNvSpPr/>
          <p:nvPr/>
        </p:nvSpPr>
        <p:spPr>
          <a:xfrm>
            <a:off x="640080" y="2468880"/>
            <a:ext cx="227880" cy="227880"/>
          </a:xfrm>
          <a:prstGeom prst="ellipse">
            <a:avLst/>
          </a:prstGeom>
          <a:solidFill>
            <a:srgbClr val="95A5A6"/>
          </a:solidFill>
          <a:ln w="12700">
            <a:solidFill>
              <a:srgbClr val="95A5A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9" name="Text 6"/>
          <p:cNvSpPr/>
          <p:nvPr/>
        </p:nvSpPr>
        <p:spPr>
          <a:xfrm>
            <a:off x="1005840" y="237744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2C3E50"/>
                </a:solidFill>
                <a:latin typeface="Calibri"/>
                <a:ea typeface="Calibri"/>
              </a:rPr>
              <a:t>Clásicos (pre-2012)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1005840" y="2670120"/>
            <a:ext cx="49370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95A5A6"/>
                </a:solidFill>
                <a:latin typeface="Calibri"/>
                <a:ea typeface="Calibri"/>
              </a:rPr>
              <a:t>HOG + SVM, SIFT, SURF — descriptores manuales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121" name="Shape 8"/>
          <p:cNvSpPr/>
          <p:nvPr/>
        </p:nvSpPr>
        <p:spPr>
          <a:xfrm>
            <a:off x="640080" y="3246120"/>
            <a:ext cx="227880" cy="227880"/>
          </a:xfrm>
          <a:prstGeom prst="ellipse">
            <a:avLst/>
          </a:prstGeom>
          <a:solidFill>
            <a:srgbClr val="95A5A6"/>
          </a:solidFill>
          <a:ln w="12700">
            <a:solidFill>
              <a:srgbClr val="95A5A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2" name="Text 9"/>
          <p:cNvSpPr/>
          <p:nvPr/>
        </p:nvSpPr>
        <p:spPr>
          <a:xfrm>
            <a:off x="1005840" y="315468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2C3E50"/>
                </a:solidFill>
                <a:latin typeface="Calibri"/>
                <a:ea typeface="Calibri"/>
              </a:rPr>
              <a:t>Two-stage (2014-2017)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1005840" y="3447360"/>
            <a:ext cx="49370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95A5A6"/>
                </a:solidFill>
                <a:latin typeface="Calibri"/>
                <a:ea typeface="Calibri"/>
              </a:rPr>
              <a:t>Faster R-CNN, Mask R-CNN — alta precisión, lentos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124" name="Shape 11"/>
          <p:cNvSpPr/>
          <p:nvPr/>
        </p:nvSpPr>
        <p:spPr>
          <a:xfrm>
            <a:off x="640080" y="4023360"/>
            <a:ext cx="227880" cy="227880"/>
          </a:xfrm>
          <a:prstGeom prst="ellipse">
            <a:avLst/>
          </a:prstGeom>
          <a:solidFill>
            <a:srgbClr val="95A5A6"/>
          </a:solidFill>
          <a:ln w="12700">
            <a:solidFill>
              <a:srgbClr val="95A5A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5" name="Text 12"/>
          <p:cNvSpPr/>
          <p:nvPr/>
        </p:nvSpPr>
        <p:spPr>
          <a:xfrm>
            <a:off x="1005840" y="393192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2C3E50"/>
                </a:solidFill>
                <a:latin typeface="Calibri"/>
                <a:ea typeface="Calibri"/>
              </a:rPr>
              <a:t>One-stage (2016+)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1005840" y="4224600"/>
            <a:ext cx="49370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95A5A6"/>
                </a:solidFill>
                <a:latin typeface="Calibri"/>
                <a:ea typeface="Calibri"/>
              </a:rPr>
              <a:t>SSD, RetinaNet, YOLO — tiempo real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127" name="Shape 14"/>
          <p:cNvSpPr/>
          <p:nvPr/>
        </p:nvSpPr>
        <p:spPr>
          <a:xfrm>
            <a:off x="640080" y="4800600"/>
            <a:ext cx="227880" cy="227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8" name="Text 15"/>
          <p:cNvSpPr/>
          <p:nvPr/>
        </p:nvSpPr>
        <p:spPr>
          <a:xfrm>
            <a:off x="1005840" y="470916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2C3E50"/>
                </a:solidFill>
                <a:latin typeface="Calibri"/>
                <a:ea typeface="Calibri"/>
              </a:rPr>
              <a:t>YOLOv8 (2023, Ultralytics)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1005840" y="5001840"/>
            <a:ext cx="49370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95A5A6"/>
                </a:solidFill>
                <a:latin typeface="Calibri"/>
                <a:ea typeface="Calibri"/>
              </a:rPr>
              <a:t>Anchor-free, mosaic + mixup integrados, estado del arte en COCO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130" name="Shape 17"/>
          <p:cNvSpPr/>
          <p:nvPr/>
        </p:nvSpPr>
        <p:spPr>
          <a:xfrm>
            <a:off x="6400800" y="1920240"/>
            <a:ext cx="5211360" cy="420552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31" name="Shape 18"/>
          <p:cNvSpPr/>
          <p:nvPr/>
        </p:nvSpPr>
        <p:spPr>
          <a:xfrm>
            <a:off x="6400800" y="1920240"/>
            <a:ext cx="109080" cy="4205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32" name="Text 19"/>
          <p:cNvSpPr/>
          <p:nvPr/>
        </p:nvSpPr>
        <p:spPr>
          <a:xfrm>
            <a:off x="6675120" y="2057400"/>
            <a:ext cx="48456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2C3E50"/>
                </a:solidFill>
                <a:latin typeface="Georgia"/>
                <a:ea typeface="Georgia"/>
              </a:rPr>
              <a:t>Aplicaciones en tráfico</a:t>
            </a:r>
            <a:endParaRPr lang="es-CL" sz="1600" b="0" strike="noStrike" spc="-1">
              <a:latin typeface="Arial"/>
            </a:endParaRPr>
          </a:p>
        </p:txBody>
      </p:sp>
      <p:sp>
        <p:nvSpPr>
          <p:cNvPr id="133" name="Text 20"/>
          <p:cNvSpPr/>
          <p:nvPr/>
        </p:nvSpPr>
        <p:spPr>
          <a:xfrm>
            <a:off x="6675120" y="2514600"/>
            <a:ext cx="4754160" cy="347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C3E50"/>
                </a:solidFill>
                <a:latin typeface="Calibri"/>
                <a:ea typeface="Calibri"/>
              </a:rPr>
              <a:t>Vaiyapuri et al. (2024)</a:t>
            </a:r>
            <a:endParaRPr lang="es-CL" sz="12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YOLOv8 para detección de vehículos de emergencia: precisión y recall &gt; 90 % en escenas urbanas.</a:t>
            </a:r>
            <a:endParaRPr lang="es-CL" sz="12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 </a:t>
            </a:r>
            <a:endParaRPr lang="es-CL" sz="12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C3E50"/>
                </a:solidFill>
                <a:latin typeface="Calibri"/>
                <a:ea typeface="Calibri"/>
              </a:rPr>
              <a:t>Wu et al. (2025)</a:t>
            </a:r>
            <a:endParaRPr lang="es-CL" sz="12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YOLOv8 mejorado para vehículos + peatones + señalética en VisDrone: mAP &gt; 0,80.</a:t>
            </a:r>
            <a:endParaRPr lang="es-CL" sz="12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 </a:t>
            </a:r>
            <a:endParaRPr lang="es-CL" sz="12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C3E50"/>
                </a:solidFill>
                <a:latin typeface="Calibri"/>
                <a:ea typeface="Calibri"/>
              </a:rPr>
              <a:t>Para el control del semáforo</a:t>
            </a:r>
            <a:endParaRPr lang="es-CL" sz="12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Dos enfoques: reglas heurísticas (este proyecto) o Reinforcement Learning (línea futura).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134" name="Text 21"/>
          <p:cNvSpPr/>
          <p:nvPr/>
        </p:nvSpPr>
        <p:spPr>
          <a:xfrm>
            <a:off x="457200" y="6446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Sistema de Semáforo Inteligente · Diplomado IA UBB 2026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135" name="Text 22"/>
          <p:cNvSpPr/>
          <p:nvPr/>
        </p:nvSpPr>
        <p:spPr>
          <a:xfrm>
            <a:off x="11247120" y="644652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4 / 15</a:t>
            </a:r>
            <a:endParaRPr lang="es-CL" sz="9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457200" y="320040"/>
            <a:ext cx="10965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strike="noStrike" spc="-1">
                <a:solidFill>
                  <a:srgbClr val="C0392B"/>
                </a:solidFill>
                <a:latin typeface="Georgia"/>
                <a:ea typeface="Georgia"/>
              </a:rPr>
              <a:t>04</a:t>
            </a:r>
            <a:endParaRPr lang="es-CL" sz="6000" b="0" strike="noStrike" spc="-1"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1554480" y="502920"/>
            <a:ext cx="1014912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strike="noStrike" spc="-1">
                <a:solidFill>
                  <a:srgbClr val="2C3E50"/>
                </a:solidFill>
                <a:latin typeface="Georgia"/>
                <a:ea typeface="Georgia"/>
              </a:rPr>
              <a:t>Arquitectura: 2 cámaras + controlador central</a:t>
            </a:r>
            <a:endParaRPr lang="es-CL" sz="3000" b="0" strike="noStrike" spc="-1"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457200" y="1280160"/>
            <a:ext cx="456480" cy="54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39" name="Text 3"/>
          <p:cNvSpPr/>
          <p:nvPr/>
        </p:nvSpPr>
        <p:spPr>
          <a:xfrm>
            <a:off x="1554480" y="141732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cam_sur (Sur→Norte) + cam_este (Este→Oeste) + ControladorInterseccion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140" name="Shape 4"/>
          <p:cNvSpPr/>
          <p:nvPr/>
        </p:nvSpPr>
        <p:spPr>
          <a:xfrm>
            <a:off x="285840" y="1923120"/>
            <a:ext cx="4754160" cy="36568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1" name="Text 5"/>
          <p:cNvSpPr/>
          <p:nvPr/>
        </p:nvSpPr>
        <p:spPr>
          <a:xfrm>
            <a:off x="822960" y="196596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2C3E50"/>
                </a:solidFill>
                <a:latin typeface="Calibri"/>
                <a:ea typeface="Calibri"/>
              </a:rPr>
              <a:t>Intersección — 2 ejes detectados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1005840" y="3520440"/>
            <a:ext cx="4022640" cy="6393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3" name="Shape 7"/>
          <p:cNvSpPr/>
          <p:nvPr/>
        </p:nvSpPr>
        <p:spPr>
          <a:xfrm>
            <a:off x="2697480" y="2423160"/>
            <a:ext cx="639360" cy="27424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4" name="Shape 8"/>
          <p:cNvSpPr/>
          <p:nvPr/>
        </p:nvSpPr>
        <p:spPr>
          <a:xfrm>
            <a:off x="1097280" y="3822120"/>
            <a:ext cx="227880" cy="36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5" name="Shape 9"/>
          <p:cNvSpPr/>
          <p:nvPr/>
        </p:nvSpPr>
        <p:spPr>
          <a:xfrm>
            <a:off x="1600200" y="3822120"/>
            <a:ext cx="227880" cy="36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6" name="Shape 10"/>
          <p:cNvSpPr/>
          <p:nvPr/>
        </p:nvSpPr>
        <p:spPr>
          <a:xfrm>
            <a:off x="2103120" y="3822120"/>
            <a:ext cx="227880" cy="36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7" name="Shape 11"/>
          <p:cNvSpPr/>
          <p:nvPr/>
        </p:nvSpPr>
        <p:spPr>
          <a:xfrm>
            <a:off x="2606040" y="3822120"/>
            <a:ext cx="227880" cy="36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8" name="Shape 12"/>
          <p:cNvSpPr/>
          <p:nvPr/>
        </p:nvSpPr>
        <p:spPr>
          <a:xfrm>
            <a:off x="3611880" y="3822120"/>
            <a:ext cx="227880" cy="36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9" name="Shape 13"/>
          <p:cNvSpPr/>
          <p:nvPr/>
        </p:nvSpPr>
        <p:spPr>
          <a:xfrm>
            <a:off x="4114800" y="3822120"/>
            <a:ext cx="227880" cy="36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50" name="Shape 14"/>
          <p:cNvSpPr/>
          <p:nvPr/>
        </p:nvSpPr>
        <p:spPr>
          <a:xfrm>
            <a:off x="4617720" y="3822120"/>
            <a:ext cx="227880" cy="36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51" name="Shape 15"/>
          <p:cNvSpPr/>
          <p:nvPr/>
        </p:nvSpPr>
        <p:spPr>
          <a:xfrm>
            <a:off x="2999160" y="2514600"/>
            <a:ext cx="36000" cy="2278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52" name="Shape 16"/>
          <p:cNvSpPr/>
          <p:nvPr/>
        </p:nvSpPr>
        <p:spPr>
          <a:xfrm>
            <a:off x="2999160" y="3017520"/>
            <a:ext cx="36000" cy="2278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53" name="Shape 17"/>
          <p:cNvSpPr/>
          <p:nvPr/>
        </p:nvSpPr>
        <p:spPr>
          <a:xfrm>
            <a:off x="2999160" y="4526280"/>
            <a:ext cx="36000" cy="2278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54" name="Text 19"/>
          <p:cNvSpPr/>
          <p:nvPr/>
        </p:nvSpPr>
        <p:spPr>
          <a:xfrm>
            <a:off x="3347280" y="425628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2C3E50"/>
                </a:solidFill>
                <a:latin typeface="Calibri"/>
                <a:ea typeface="Calibri"/>
              </a:rPr>
              <a:t>CAM-SUR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155" name="Shape 20"/>
          <p:cNvSpPr/>
          <p:nvPr/>
        </p:nvSpPr>
        <p:spPr>
          <a:xfrm>
            <a:off x="2788920" y="4097160"/>
            <a:ext cx="456480" cy="45648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156" name="Image 1" descr="preencode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2880360" y="418860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57" name="Text 21"/>
          <p:cNvSpPr/>
          <p:nvPr/>
        </p:nvSpPr>
        <p:spPr>
          <a:xfrm>
            <a:off x="3491280" y="330516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2C3E50"/>
                </a:solidFill>
                <a:latin typeface="Calibri"/>
                <a:ea typeface="Calibri"/>
              </a:rPr>
              <a:t>CAM-ESTE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158" name="Text 23"/>
          <p:cNvSpPr/>
          <p:nvPr/>
        </p:nvSpPr>
        <p:spPr>
          <a:xfrm>
            <a:off x="1005840" y="320040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59" name="Shape 24"/>
          <p:cNvSpPr/>
          <p:nvPr/>
        </p:nvSpPr>
        <p:spPr>
          <a:xfrm>
            <a:off x="3420000" y="3647880"/>
            <a:ext cx="456480" cy="45648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160" name="Image 3" descr="preencode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3511440" y="37033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61" name="Text 25"/>
          <p:cNvSpPr/>
          <p:nvPr/>
        </p:nvSpPr>
        <p:spPr>
          <a:xfrm>
            <a:off x="4572000" y="320040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62" name="Shape 26"/>
          <p:cNvSpPr/>
          <p:nvPr/>
        </p:nvSpPr>
        <p:spPr>
          <a:xfrm>
            <a:off x="2724840" y="3337560"/>
            <a:ext cx="63360" cy="1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63" name="Shape 27"/>
          <p:cNvSpPr/>
          <p:nvPr/>
        </p:nvSpPr>
        <p:spPr>
          <a:xfrm>
            <a:off x="2843640" y="3337560"/>
            <a:ext cx="63360" cy="1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64" name="Shape 28"/>
          <p:cNvSpPr/>
          <p:nvPr/>
        </p:nvSpPr>
        <p:spPr>
          <a:xfrm>
            <a:off x="2962800" y="3337560"/>
            <a:ext cx="63360" cy="1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65" name="Shape 29"/>
          <p:cNvSpPr/>
          <p:nvPr/>
        </p:nvSpPr>
        <p:spPr>
          <a:xfrm>
            <a:off x="3081600" y="3337560"/>
            <a:ext cx="63360" cy="1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66" name="Shape 30"/>
          <p:cNvSpPr/>
          <p:nvPr/>
        </p:nvSpPr>
        <p:spPr>
          <a:xfrm>
            <a:off x="3200400" y="3337560"/>
            <a:ext cx="63360" cy="1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67" name="Shape 31"/>
          <p:cNvSpPr/>
          <p:nvPr/>
        </p:nvSpPr>
        <p:spPr>
          <a:xfrm>
            <a:off x="2724840" y="4178880"/>
            <a:ext cx="63360" cy="1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68" name="Shape 32"/>
          <p:cNvSpPr/>
          <p:nvPr/>
        </p:nvSpPr>
        <p:spPr>
          <a:xfrm>
            <a:off x="2843640" y="4178880"/>
            <a:ext cx="63360" cy="1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69" name="Shape 33"/>
          <p:cNvSpPr/>
          <p:nvPr/>
        </p:nvSpPr>
        <p:spPr>
          <a:xfrm>
            <a:off x="2962800" y="4178880"/>
            <a:ext cx="63360" cy="1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0" name="Shape 34"/>
          <p:cNvSpPr/>
          <p:nvPr/>
        </p:nvSpPr>
        <p:spPr>
          <a:xfrm>
            <a:off x="3081600" y="4178880"/>
            <a:ext cx="63360" cy="1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1" name="Shape 35"/>
          <p:cNvSpPr/>
          <p:nvPr/>
        </p:nvSpPr>
        <p:spPr>
          <a:xfrm>
            <a:off x="3200400" y="4178880"/>
            <a:ext cx="63360" cy="1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2" name="Shape 36"/>
          <p:cNvSpPr/>
          <p:nvPr/>
        </p:nvSpPr>
        <p:spPr>
          <a:xfrm>
            <a:off x="2514600" y="3547800"/>
            <a:ext cx="163800" cy="6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3" name="Shape 37"/>
          <p:cNvSpPr/>
          <p:nvPr/>
        </p:nvSpPr>
        <p:spPr>
          <a:xfrm>
            <a:off x="2514600" y="3666600"/>
            <a:ext cx="163800" cy="6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4" name="Shape 38"/>
          <p:cNvSpPr/>
          <p:nvPr/>
        </p:nvSpPr>
        <p:spPr>
          <a:xfrm>
            <a:off x="2514600" y="3785760"/>
            <a:ext cx="163800" cy="6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5" name="Shape 39"/>
          <p:cNvSpPr/>
          <p:nvPr/>
        </p:nvSpPr>
        <p:spPr>
          <a:xfrm>
            <a:off x="2514600" y="3904560"/>
            <a:ext cx="163800" cy="6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6" name="Shape 40"/>
          <p:cNvSpPr/>
          <p:nvPr/>
        </p:nvSpPr>
        <p:spPr>
          <a:xfrm>
            <a:off x="2514600" y="4023360"/>
            <a:ext cx="163800" cy="6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7" name="Shape 41"/>
          <p:cNvSpPr/>
          <p:nvPr/>
        </p:nvSpPr>
        <p:spPr>
          <a:xfrm>
            <a:off x="3355920" y="3547800"/>
            <a:ext cx="163800" cy="6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8" name="Shape 42"/>
          <p:cNvSpPr/>
          <p:nvPr/>
        </p:nvSpPr>
        <p:spPr>
          <a:xfrm>
            <a:off x="3355920" y="3666600"/>
            <a:ext cx="163800" cy="6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79" name="Shape 43"/>
          <p:cNvSpPr/>
          <p:nvPr/>
        </p:nvSpPr>
        <p:spPr>
          <a:xfrm>
            <a:off x="3355920" y="3785760"/>
            <a:ext cx="163800" cy="6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80" name="Shape 44"/>
          <p:cNvSpPr/>
          <p:nvPr/>
        </p:nvSpPr>
        <p:spPr>
          <a:xfrm>
            <a:off x="3355920" y="3904560"/>
            <a:ext cx="163800" cy="6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81" name="Shape 45"/>
          <p:cNvSpPr/>
          <p:nvPr/>
        </p:nvSpPr>
        <p:spPr>
          <a:xfrm>
            <a:off x="3355920" y="4023360"/>
            <a:ext cx="163800" cy="6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82" name="Text 46"/>
          <p:cNvSpPr/>
          <p:nvPr/>
        </p:nvSpPr>
        <p:spPr>
          <a:xfrm>
            <a:off x="731520" y="52120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2 cámaras IP · 2 ejes de detección (SN y EO)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183" name="Shape 47"/>
          <p:cNvSpPr/>
          <p:nvPr/>
        </p:nvSpPr>
        <p:spPr>
          <a:xfrm>
            <a:off x="5760720" y="1874520"/>
            <a:ext cx="1370880" cy="13708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84" name="Text 48"/>
          <p:cNvSpPr/>
          <p:nvPr/>
        </p:nvSpPr>
        <p:spPr>
          <a:xfrm>
            <a:off x="5852160" y="2057400"/>
            <a:ext cx="4564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F39C12"/>
                </a:solidFill>
                <a:latin typeface="Georgia"/>
                <a:ea typeface="Georgia"/>
              </a:rPr>
              <a:t>2×</a:t>
            </a:r>
            <a:endParaRPr lang="es-CL" sz="2800" b="0" strike="noStrike" spc="-1">
              <a:latin typeface="Arial"/>
            </a:endParaRPr>
          </a:p>
        </p:txBody>
      </p:sp>
      <p:pic>
        <p:nvPicPr>
          <p:cNvPr id="185" name="Image 4" descr="preencode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6537960" y="2103120"/>
            <a:ext cx="410760" cy="410760"/>
          </a:xfrm>
          <a:prstGeom prst="rect">
            <a:avLst/>
          </a:prstGeom>
          <a:ln w="0">
            <a:noFill/>
          </a:ln>
        </p:spPr>
      </p:pic>
      <p:sp>
        <p:nvSpPr>
          <p:cNvPr id="186" name="Text 49"/>
          <p:cNvSpPr/>
          <p:nvPr/>
        </p:nvSpPr>
        <p:spPr>
          <a:xfrm>
            <a:off x="5806440" y="2606040"/>
            <a:ext cx="12794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Cámaras</a:t>
            </a:r>
            <a:endParaRPr lang="es-CL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cam_sur · cam_este</a:t>
            </a:r>
            <a:endParaRPr lang="es-CL" sz="1000" b="0" strike="noStrike" spc="-1">
              <a:latin typeface="Arial"/>
            </a:endParaRPr>
          </a:p>
        </p:txBody>
      </p:sp>
      <p:pic>
        <p:nvPicPr>
          <p:cNvPr id="187" name="Image 5" descr="preencode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178040" y="237744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188" name="Shape 50"/>
          <p:cNvSpPr/>
          <p:nvPr/>
        </p:nvSpPr>
        <p:spPr>
          <a:xfrm>
            <a:off x="7589520" y="1874520"/>
            <a:ext cx="1370880" cy="13708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89" name="Text 51"/>
          <p:cNvSpPr/>
          <p:nvPr/>
        </p:nvSpPr>
        <p:spPr>
          <a:xfrm>
            <a:off x="7680960" y="2057400"/>
            <a:ext cx="4564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F39C12"/>
                </a:solidFill>
                <a:latin typeface="Georgia"/>
                <a:ea typeface="Georgia"/>
              </a:rPr>
              <a:t>2×</a:t>
            </a:r>
            <a:endParaRPr lang="es-CL" sz="2800" b="0" strike="noStrike" spc="-1">
              <a:latin typeface="Arial"/>
            </a:endParaRPr>
          </a:p>
        </p:txBody>
      </p:sp>
      <p:pic>
        <p:nvPicPr>
          <p:cNvPr id="190" name="Image 6" descr="preencoded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8366760" y="2103120"/>
            <a:ext cx="410760" cy="410760"/>
          </a:xfrm>
          <a:prstGeom prst="rect">
            <a:avLst/>
          </a:prstGeom>
          <a:ln w="0">
            <a:noFill/>
          </a:ln>
        </p:spPr>
      </p:pic>
      <p:sp>
        <p:nvSpPr>
          <p:cNvPr id="191" name="Text 52"/>
          <p:cNvSpPr/>
          <p:nvPr/>
        </p:nvSpPr>
        <p:spPr>
          <a:xfrm>
            <a:off x="7635240" y="2606040"/>
            <a:ext cx="12794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YOLOv8</a:t>
            </a:r>
            <a:endParaRPr lang="es-CL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(batch)</a:t>
            </a:r>
            <a:endParaRPr lang="es-CL" sz="1000" b="0" strike="noStrike" spc="-1">
              <a:latin typeface="Arial"/>
            </a:endParaRPr>
          </a:p>
        </p:txBody>
      </p:sp>
      <p:pic>
        <p:nvPicPr>
          <p:cNvPr id="192" name="Image 7" descr="preencode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9006840" y="237744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193" name="Shape 53"/>
          <p:cNvSpPr/>
          <p:nvPr/>
        </p:nvSpPr>
        <p:spPr>
          <a:xfrm>
            <a:off x="9418320" y="1874520"/>
            <a:ext cx="2102400" cy="13708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94" name="Shape 54"/>
          <p:cNvSpPr/>
          <p:nvPr/>
        </p:nvSpPr>
        <p:spPr>
          <a:xfrm>
            <a:off x="9418320" y="1874520"/>
            <a:ext cx="90720" cy="1370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95" name="Text 55"/>
          <p:cNvSpPr/>
          <p:nvPr/>
        </p:nvSpPr>
        <p:spPr>
          <a:xfrm>
            <a:off x="9601200" y="196596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2C3E50"/>
                </a:solidFill>
                <a:latin typeface="Calibri"/>
                <a:ea typeface="Calibri"/>
              </a:rPr>
              <a:t>Detecciones tagueadas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196" name="Text 56"/>
          <p:cNvSpPr/>
          <p:nvPr/>
        </p:nvSpPr>
        <p:spPr>
          <a:xfrm>
            <a:off x="9601200" y="2240280"/>
            <a:ext cx="182808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100"/>
              </a:spcAft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C0392B"/>
                </a:solidFill>
                <a:latin typeface="Calibri"/>
                <a:ea typeface="Calibri"/>
              </a:rPr>
              <a:t>SN: </a:t>
            </a:r>
            <a:r>
              <a:rPr lang="en-US" sz="900" b="0" strike="noStrike" spc="-1">
                <a:solidFill>
                  <a:srgbClr val="2C3E50"/>
                </a:solidFill>
                <a:latin typeface="Calibri"/>
                <a:ea typeface="Calibri"/>
              </a:rPr>
              <a:t>2 veh, 1 peatón</a:t>
            </a:r>
            <a:endParaRPr lang="es-CL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100"/>
              </a:spcAft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C0392B"/>
                </a:solidFill>
                <a:latin typeface="Calibri"/>
                <a:ea typeface="Calibri"/>
              </a:rPr>
              <a:t>EO: </a:t>
            </a:r>
            <a:r>
              <a:rPr lang="en-US" sz="900" b="0" strike="noStrike" spc="-1">
                <a:solidFill>
                  <a:srgbClr val="2C3E50"/>
                </a:solidFill>
                <a:latin typeface="Calibri"/>
                <a:ea typeface="Calibri"/>
              </a:rPr>
              <a:t>1 veh, 0 peatón</a:t>
            </a:r>
            <a:endParaRPr lang="es-CL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100"/>
              </a:spcAft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C0392B"/>
                </a:solidFill>
                <a:latin typeface="Calibri"/>
                <a:ea typeface="Calibri"/>
              </a:rPr>
              <a:t>🚨 </a:t>
            </a:r>
            <a:r>
              <a:rPr lang="en-US" sz="900" b="1" strike="noStrike" spc="-1">
                <a:solidFill>
                  <a:srgbClr val="C0392B"/>
                </a:solidFill>
                <a:latin typeface="Calibri"/>
                <a:ea typeface="Calibri"/>
              </a:rPr>
              <a:t>emergencia detectada</a:t>
            </a:r>
            <a:endParaRPr lang="es-CL" sz="9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100"/>
              </a:spcAft>
              <a:buNone/>
              <a:tabLst>
                <a:tab pos="0" algn="l"/>
              </a:tabLst>
            </a:pPr>
            <a:endParaRPr lang="es-CL" sz="900" b="0" strike="noStrike" spc="-1">
              <a:latin typeface="Arial"/>
            </a:endParaRPr>
          </a:p>
        </p:txBody>
      </p:sp>
      <p:sp>
        <p:nvSpPr>
          <p:cNvPr id="197" name="Text 57"/>
          <p:cNvSpPr/>
          <p:nvPr/>
        </p:nvSpPr>
        <p:spPr>
          <a:xfrm>
            <a:off x="8229600" y="329184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strike="noStrike" spc="-1">
                <a:solidFill>
                  <a:srgbClr val="C0392B"/>
                </a:solidFill>
                <a:latin typeface="Calibri"/>
                <a:ea typeface="Calibri"/>
              </a:rPr>
              <a:t>⬇</a:t>
            </a:r>
            <a:endParaRPr lang="es-CL" sz="2200" b="0" strike="noStrike" spc="-1">
              <a:latin typeface="Arial"/>
            </a:endParaRPr>
          </a:p>
        </p:txBody>
      </p:sp>
      <p:sp>
        <p:nvSpPr>
          <p:cNvPr id="198" name="Shape 58"/>
          <p:cNvSpPr/>
          <p:nvPr/>
        </p:nvSpPr>
        <p:spPr>
          <a:xfrm>
            <a:off x="5760720" y="3657600"/>
            <a:ext cx="5760000" cy="913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  <a:effectLst>
            <a:outerShdw blurRad="101520" dist="25560" dir="5400000" algn="bl" rotWithShape="0">
              <a:srgbClr val="000000">
                <a:alpha val="1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199" name="Image 8" descr="preencoded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5989320" y="3931920"/>
            <a:ext cx="410760" cy="410760"/>
          </a:xfrm>
          <a:prstGeom prst="rect">
            <a:avLst/>
          </a:prstGeom>
          <a:ln w="0">
            <a:noFill/>
          </a:ln>
        </p:spPr>
      </p:pic>
      <p:sp>
        <p:nvSpPr>
          <p:cNvPr id="200" name="Text 59"/>
          <p:cNvSpPr/>
          <p:nvPr/>
        </p:nvSpPr>
        <p:spPr>
          <a:xfrm>
            <a:off x="6492240" y="3767400"/>
            <a:ext cx="49370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94">
                <a:solidFill>
                  <a:srgbClr val="FFFFFF"/>
                </a:solidFill>
                <a:latin typeface="Calibri"/>
                <a:ea typeface="Calibri"/>
              </a:rPr>
              <a:t>CONTROLADOR CENTRAL DE INTERSECCIÓN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201" name="Text 60"/>
          <p:cNvSpPr/>
          <p:nvPr/>
        </p:nvSpPr>
        <p:spPr>
          <a:xfrm>
            <a:off x="6492240" y="409644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FFFFFF"/>
                </a:solidFill>
                <a:latin typeface="Calibri"/>
                <a:ea typeface="Calibri"/>
              </a:rPr>
              <a:t>Aplica 4 reglas jerárquicas + define fase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202" name="Text 61"/>
          <p:cNvSpPr/>
          <p:nvPr/>
        </p:nvSpPr>
        <p:spPr>
          <a:xfrm>
            <a:off x="8229600" y="45720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2C3E50"/>
                </a:solidFill>
                <a:latin typeface="Calibri"/>
                <a:ea typeface="Calibri"/>
              </a:rPr>
              <a:t>⬇</a:t>
            </a:r>
            <a:endParaRPr lang="es-CL" sz="2000" b="0" strike="noStrike" spc="-1">
              <a:latin typeface="Arial"/>
            </a:endParaRPr>
          </a:p>
        </p:txBody>
      </p:sp>
      <p:sp>
        <p:nvSpPr>
          <p:cNvPr id="203" name="Shape 62"/>
          <p:cNvSpPr/>
          <p:nvPr/>
        </p:nvSpPr>
        <p:spPr>
          <a:xfrm>
            <a:off x="5760720" y="4937760"/>
            <a:ext cx="5760000" cy="5936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04" name="Shape 63"/>
          <p:cNvSpPr/>
          <p:nvPr/>
        </p:nvSpPr>
        <p:spPr>
          <a:xfrm>
            <a:off x="5870520" y="5029200"/>
            <a:ext cx="410760" cy="410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205" name="Image 9" descr="preencoded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5961960" y="5102280"/>
            <a:ext cx="246240" cy="246240"/>
          </a:xfrm>
          <a:prstGeom prst="rect">
            <a:avLst/>
          </a:prstGeom>
          <a:ln w="0">
            <a:noFill/>
          </a:ln>
        </p:spPr>
      </p:pic>
      <p:sp>
        <p:nvSpPr>
          <p:cNvPr id="206" name="Text 64"/>
          <p:cNvSpPr/>
          <p:nvPr/>
        </p:nvSpPr>
        <p:spPr>
          <a:xfrm>
            <a:off x="6400800" y="4937760"/>
            <a:ext cx="502848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Fase: FASE_SN · FASE_EO · TRANSICION · EMERGENCIA · FALLA_SEGURA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207" name="Text 65"/>
          <p:cNvSpPr/>
          <p:nvPr/>
        </p:nvSpPr>
        <p:spPr>
          <a:xfrm>
            <a:off x="457200" y="6446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Sistema de Semáforo Inteligente · Diplomado IA UBB 2026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208" name="Text 66"/>
          <p:cNvSpPr/>
          <p:nvPr/>
        </p:nvSpPr>
        <p:spPr>
          <a:xfrm>
            <a:off x="11247120" y="644652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5 / 15</a:t>
            </a:r>
            <a:endParaRPr lang="es-CL" sz="9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457200" y="320040"/>
            <a:ext cx="10965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strike="noStrike" spc="-1">
                <a:solidFill>
                  <a:srgbClr val="C0392B"/>
                </a:solidFill>
                <a:latin typeface="Georgia"/>
                <a:ea typeface="Georgia"/>
              </a:rPr>
              <a:t>05</a:t>
            </a:r>
            <a:endParaRPr lang="es-CL" sz="6000" b="0" strike="noStrike" spc="-1"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1554480" y="502920"/>
            <a:ext cx="1014912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strike="noStrike" spc="-1">
                <a:solidFill>
                  <a:srgbClr val="2C3E50"/>
                </a:solidFill>
                <a:latin typeface="Georgia"/>
                <a:ea typeface="Georgia"/>
              </a:rPr>
              <a:t>YOLOv8 + Transfer Learning desde COCO</a:t>
            </a:r>
            <a:endParaRPr lang="es-CL" sz="3000" b="0" strike="noStrike" spc="-1">
              <a:latin typeface="Arial"/>
            </a:endParaRPr>
          </a:p>
        </p:txBody>
      </p:sp>
      <p:sp>
        <p:nvSpPr>
          <p:cNvPr id="211" name="Shape 2"/>
          <p:cNvSpPr/>
          <p:nvPr/>
        </p:nvSpPr>
        <p:spPr>
          <a:xfrm>
            <a:off x="457200" y="1280160"/>
            <a:ext cx="456480" cy="54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12" name="Text 3"/>
          <p:cNvSpPr/>
          <p:nvPr/>
        </p:nvSpPr>
        <p:spPr>
          <a:xfrm>
            <a:off x="1554480" y="141732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La clave técnica para entrenar bien con pocos datos propios</a:t>
            </a:r>
            <a:endParaRPr lang="es-CL" sz="1400" b="0" strike="noStrike" spc="-1">
              <a:latin typeface="Arial"/>
            </a:endParaRPr>
          </a:p>
        </p:txBody>
      </p:sp>
      <p:sp>
        <p:nvSpPr>
          <p:cNvPr id="213" name="Shape 4"/>
          <p:cNvSpPr/>
          <p:nvPr/>
        </p:nvSpPr>
        <p:spPr>
          <a:xfrm>
            <a:off x="640080" y="1965960"/>
            <a:ext cx="3382560" cy="21938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  <a:effectLst>
            <a:outerShdw blurRad="101520" dist="25560" dir="5400000" algn="bl" rotWithShape="0">
              <a:srgbClr val="000000">
                <a:alpha val="12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14" name="Shape 5"/>
          <p:cNvSpPr/>
          <p:nvPr/>
        </p:nvSpPr>
        <p:spPr>
          <a:xfrm>
            <a:off x="640080" y="1965960"/>
            <a:ext cx="3382560" cy="365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15" name="Text 6"/>
          <p:cNvSpPr/>
          <p:nvPr/>
        </p:nvSpPr>
        <p:spPr>
          <a:xfrm>
            <a:off x="640080" y="1965960"/>
            <a:ext cx="33825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197">
                <a:solidFill>
                  <a:srgbClr val="2C3E50"/>
                </a:solidFill>
                <a:latin typeface="Calibri"/>
                <a:ea typeface="Calibri"/>
              </a:rPr>
              <a:t>PASO 1 · BASE PREENTRENADA</a:t>
            </a:r>
            <a:endParaRPr lang="es-CL" sz="1000" b="0" strike="noStrike" spc="-1">
              <a:latin typeface="Arial"/>
            </a:endParaRPr>
          </a:p>
        </p:txBody>
      </p:sp>
      <p:pic>
        <p:nvPicPr>
          <p:cNvPr id="216" name="Image 0" descr="preencode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868680" y="2468880"/>
            <a:ext cx="502200" cy="502200"/>
          </a:xfrm>
          <a:prstGeom prst="rect">
            <a:avLst/>
          </a:prstGeom>
          <a:ln w="0">
            <a:noFill/>
          </a:ln>
        </p:spPr>
      </p:pic>
      <p:sp>
        <p:nvSpPr>
          <p:cNvPr id="217" name="Text 7"/>
          <p:cNvSpPr/>
          <p:nvPr/>
        </p:nvSpPr>
        <p:spPr>
          <a:xfrm>
            <a:off x="1508760" y="2468880"/>
            <a:ext cx="22852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strike="noStrike" spc="-1">
                <a:solidFill>
                  <a:srgbClr val="F39C12"/>
                </a:solidFill>
                <a:latin typeface="Georgia"/>
                <a:ea typeface="Georgia"/>
              </a:rPr>
              <a:t>COCO</a:t>
            </a:r>
            <a:endParaRPr lang="es-CL" sz="2200" b="0" strike="noStrike" spc="-1">
              <a:latin typeface="Arial"/>
            </a:endParaRPr>
          </a:p>
        </p:txBody>
      </p:sp>
      <p:sp>
        <p:nvSpPr>
          <p:cNvPr id="218" name="Text 8"/>
          <p:cNvSpPr/>
          <p:nvPr/>
        </p:nvSpPr>
        <p:spPr>
          <a:xfrm>
            <a:off x="1508760" y="288036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FFFFFF"/>
                </a:solidFill>
                <a:latin typeface="Calibri"/>
                <a:ea typeface="Calibri"/>
              </a:rPr>
              <a:t>330 K imágenes · 80 clases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219" name="Text 9"/>
          <p:cNvSpPr/>
          <p:nvPr/>
        </p:nvSpPr>
        <p:spPr>
          <a:xfrm>
            <a:off x="777240" y="3246120"/>
            <a:ext cx="310824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Calibri"/>
              </a:rPr>
              <a:t>YOLOv8s ya viene entrenado: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Calibri"/>
              </a:rPr>
              <a:t>person · car · truck · bus · motorcycle</a:t>
            </a:r>
            <a:endParaRPr lang="es-CL" sz="1100" b="0" strike="noStrike" spc="-1">
              <a:latin typeface="Arial"/>
            </a:endParaRPr>
          </a:p>
        </p:txBody>
      </p:sp>
      <p:pic>
        <p:nvPicPr>
          <p:cNvPr id="220" name="Image 1" descr="preencode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114800" y="2926080"/>
            <a:ext cx="410760" cy="410760"/>
          </a:xfrm>
          <a:prstGeom prst="rect">
            <a:avLst/>
          </a:prstGeom>
          <a:ln w="0">
            <a:noFill/>
          </a:ln>
        </p:spPr>
      </p:pic>
      <p:sp>
        <p:nvSpPr>
          <p:cNvPr id="221" name="Shape 10"/>
          <p:cNvSpPr/>
          <p:nvPr/>
        </p:nvSpPr>
        <p:spPr>
          <a:xfrm>
            <a:off x="4617720" y="1965960"/>
            <a:ext cx="3382560" cy="21938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  <a:effectLst>
            <a:outerShdw blurRad="101520" dist="25560" dir="5400000" algn="bl" rotWithShape="0">
              <a:srgbClr val="000000">
                <a:alpha val="12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22" name="Shape 11"/>
          <p:cNvSpPr/>
          <p:nvPr/>
        </p:nvSpPr>
        <p:spPr>
          <a:xfrm>
            <a:off x="4617720" y="1965960"/>
            <a:ext cx="3382560" cy="365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23" name="Text 12"/>
          <p:cNvSpPr/>
          <p:nvPr/>
        </p:nvSpPr>
        <p:spPr>
          <a:xfrm>
            <a:off x="4617720" y="1965960"/>
            <a:ext cx="33825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197">
                <a:solidFill>
                  <a:srgbClr val="FFFFFF"/>
                </a:solidFill>
                <a:latin typeface="Calibri"/>
                <a:ea typeface="Calibri"/>
              </a:rPr>
              <a:t>PASO 2 · FINE-TUNING</a:t>
            </a:r>
            <a:endParaRPr lang="es-CL" sz="1000" b="0" strike="noStrike" spc="-1">
              <a:latin typeface="Arial"/>
            </a:endParaRPr>
          </a:p>
        </p:txBody>
      </p:sp>
      <p:pic>
        <p:nvPicPr>
          <p:cNvPr id="224" name="Image 2" descr="preencoded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4846320" y="2468880"/>
            <a:ext cx="502200" cy="502200"/>
          </a:xfrm>
          <a:prstGeom prst="rect">
            <a:avLst/>
          </a:prstGeom>
          <a:ln w="0">
            <a:noFill/>
          </a:ln>
        </p:spPr>
      </p:pic>
      <p:sp>
        <p:nvSpPr>
          <p:cNvPr id="225" name="Text 13"/>
          <p:cNvSpPr/>
          <p:nvPr/>
        </p:nvSpPr>
        <p:spPr>
          <a:xfrm>
            <a:off x="5486400" y="2468880"/>
            <a:ext cx="237672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strike="noStrike" spc="-1">
                <a:solidFill>
                  <a:srgbClr val="C0392B"/>
                </a:solidFill>
                <a:latin typeface="Georgia"/>
                <a:ea typeface="Georgia"/>
              </a:rPr>
              <a:t>Nuestros datos</a:t>
            </a:r>
            <a:endParaRPr lang="es-CL" sz="1800" b="0" strike="noStrike" spc="-1">
              <a:latin typeface="Arial"/>
            </a:endParaRPr>
          </a:p>
        </p:txBody>
      </p:sp>
      <p:sp>
        <p:nvSpPr>
          <p:cNvPr id="226" name="Text 14"/>
          <p:cNvSpPr/>
          <p:nvPr/>
        </p:nvSpPr>
        <p:spPr>
          <a:xfrm>
            <a:off x="5486400" y="2880360"/>
            <a:ext cx="23767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FFFFFF"/>
                </a:solidFill>
                <a:latin typeface="Calibri"/>
                <a:ea typeface="Calibri"/>
              </a:rPr>
              <a:t>~10 K imágenes (CC BY 4.0)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227" name="Text 15"/>
          <p:cNvSpPr/>
          <p:nvPr/>
        </p:nvSpPr>
        <p:spPr>
          <a:xfrm>
            <a:off x="4754880" y="3246120"/>
            <a:ext cx="310824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Calibri"/>
              </a:rPr>
              <a:t>Open Images V7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Calibri"/>
              </a:rPr>
              <a:t>+ Emergency Vehicles xockh</a:t>
            </a:r>
            <a:endParaRPr lang="es-CL" sz="1100" b="0" strike="noStrike" spc="-1">
              <a:latin typeface="Arial"/>
            </a:endParaRPr>
          </a:p>
        </p:txBody>
      </p:sp>
      <p:pic>
        <p:nvPicPr>
          <p:cNvPr id="228" name="Image 3" descr="preencode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8092440" y="2926080"/>
            <a:ext cx="410760" cy="410760"/>
          </a:xfrm>
          <a:prstGeom prst="rect">
            <a:avLst/>
          </a:prstGeom>
          <a:ln w="0">
            <a:noFill/>
          </a:ln>
        </p:spPr>
      </p:pic>
      <p:sp>
        <p:nvSpPr>
          <p:cNvPr id="229" name="Shape 16"/>
          <p:cNvSpPr/>
          <p:nvPr/>
        </p:nvSpPr>
        <p:spPr>
          <a:xfrm>
            <a:off x="8595360" y="1965960"/>
            <a:ext cx="3016800" cy="2193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  <a:effectLst>
            <a:outerShdw blurRad="101520" dist="25560" dir="5400000" algn="bl" rotWithShape="0">
              <a:srgbClr val="000000">
                <a:alpha val="12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230" name="Image 4" descr="preencoded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778240" y="233172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31" name="Text 17"/>
          <p:cNvSpPr/>
          <p:nvPr/>
        </p:nvSpPr>
        <p:spPr>
          <a:xfrm>
            <a:off x="9509760" y="237744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197">
                <a:solidFill>
                  <a:srgbClr val="FFFFFF"/>
                </a:solidFill>
                <a:latin typeface="Calibri"/>
                <a:ea typeface="Calibri"/>
              </a:rPr>
              <a:t>RESULTADO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232" name="Text 18"/>
          <p:cNvSpPr/>
          <p:nvPr/>
        </p:nvSpPr>
        <p:spPr>
          <a:xfrm>
            <a:off x="9509760" y="2651760"/>
            <a:ext cx="20109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Georgia"/>
                <a:ea typeface="Georgia"/>
              </a:rPr>
              <a:t>Modelo especializado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233" name="Text 19"/>
          <p:cNvSpPr/>
          <p:nvPr/>
        </p:nvSpPr>
        <p:spPr>
          <a:xfrm>
            <a:off x="8732520" y="3246120"/>
            <a:ext cx="27424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Calibri"/>
              </a:rPr>
              <a:t>3 clases del proyecto: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Calibri"/>
              </a:rPr>
              <a:t>peatón · vehículo ·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Calibri"/>
              </a:rPr>
              <a:t>emergencia con balizas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234" name="Shape 20"/>
          <p:cNvSpPr/>
          <p:nvPr/>
        </p:nvSpPr>
        <p:spPr>
          <a:xfrm>
            <a:off x="640080" y="4434840"/>
            <a:ext cx="3565440" cy="118800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35" name="Shape 21"/>
          <p:cNvSpPr/>
          <p:nvPr/>
        </p:nvSpPr>
        <p:spPr>
          <a:xfrm>
            <a:off x="640080" y="4434840"/>
            <a:ext cx="109080" cy="118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36" name="Text 22"/>
          <p:cNvSpPr/>
          <p:nvPr/>
        </p:nvSpPr>
        <p:spPr>
          <a:xfrm>
            <a:off x="914400" y="4526280"/>
            <a:ext cx="191952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C0392B"/>
                </a:solidFill>
                <a:latin typeface="Georgia"/>
                <a:ea typeface="Georgia"/>
              </a:rPr>
              <a:t>100×</a:t>
            </a:r>
            <a:endParaRPr lang="es-CL" sz="2600" b="0" strike="noStrike" spc="-1">
              <a:latin typeface="Arial"/>
            </a:endParaRPr>
          </a:p>
        </p:txBody>
      </p:sp>
      <p:sp>
        <p:nvSpPr>
          <p:cNvPr id="237" name="Text 23"/>
          <p:cNvSpPr/>
          <p:nvPr/>
        </p:nvSpPr>
        <p:spPr>
          <a:xfrm>
            <a:off x="2834640" y="4526280"/>
            <a:ext cx="127944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menos datos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propios necesarios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238" name="Shape 24"/>
          <p:cNvSpPr/>
          <p:nvPr/>
        </p:nvSpPr>
        <p:spPr>
          <a:xfrm>
            <a:off x="4297680" y="4434840"/>
            <a:ext cx="3565440" cy="118800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39" name="Shape 25"/>
          <p:cNvSpPr/>
          <p:nvPr/>
        </p:nvSpPr>
        <p:spPr>
          <a:xfrm>
            <a:off x="4297680" y="4434840"/>
            <a:ext cx="109080" cy="118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40" name="Text 26"/>
          <p:cNvSpPr/>
          <p:nvPr/>
        </p:nvSpPr>
        <p:spPr>
          <a:xfrm>
            <a:off x="4572000" y="4526280"/>
            <a:ext cx="191952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C0392B"/>
                </a:solidFill>
                <a:latin typeface="Georgia"/>
                <a:ea typeface="Georgia"/>
              </a:rPr>
              <a:t>días → horas</a:t>
            </a:r>
            <a:endParaRPr lang="es-CL" sz="2600" b="0" strike="noStrike" spc="-1">
              <a:latin typeface="Arial"/>
            </a:endParaRPr>
          </a:p>
        </p:txBody>
      </p:sp>
      <p:sp>
        <p:nvSpPr>
          <p:cNvPr id="241" name="Text 27"/>
          <p:cNvSpPr/>
          <p:nvPr/>
        </p:nvSpPr>
        <p:spPr>
          <a:xfrm>
            <a:off x="6492240" y="4526280"/>
            <a:ext cx="127944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tiempo de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entrenamiento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242" name="Shape 28"/>
          <p:cNvSpPr/>
          <p:nvPr/>
        </p:nvSpPr>
        <p:spPr>
          <a:xfrm>
            <a:off x="7955280" y="4434840"/>
            <a:ext cx="3565440" cy="118800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43" name="Shape 29"/>
          <p:cNvSpPr/>
          <p:nvPr/>
        </p:nvSpPr>
        <p:spPr>
          <a:xfrm>
            <a:off x="7955280" y="4434840"/>
            <a:ext cx="109080" cy="118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44" name="Text 30"/>
          <p:cNvSpPr/>
          <p:nvPr/>
        </p:nvSpPr>
        <p:spPr>
          <a:xfrm>
            <a:off x="8229600" y="4526280"/>
            <a:ext cx="191952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C0392B"/>
                </a:solidFill>
                <a:latin typeface="Georgia"/>
                <a:ea typeface="Georgia"/>
              </a:rPr>
              <a:t>mejor</a:t>
            </a:r>
            <a:endParaRPr lang="es-CL" sz="2600" b="0" strike="noStrike" spc="-1">
              <a:latin typeface="Arial"/>
            </a:endParaRPr>
          </a:p>
        </p:txBody>
      </p:sp>
      <p:sp>
        <p:nvSpPr>
          <p:cNvPr id="245" name="Text 31"/>
          <p:cNvSpPr/>
          <p:nvPr/>
        </p:nvSpPr>
        <p:spPr>
          <a:xfrm>
            <a:off x="10149840" y="4526280"/>
            <a:ext cx="127944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generalización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a escenas nuevas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246" name="Shape 32"/>
          <p:cNvSpPr/>
          <p:nvPr/>
        </p:nvSpPr>
        <p:spPr>
          <a:xfrm>
            <a:off x="640080" y="5806440"/>
            <a:ext cx="10972080" cy="5022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47" name="Text 33"/>
          <p:cNvSpPr/>
          <p:nvPr/>
        </p:nvSpPr>
        <p:spPr>
          <a:xfrm>
            <a:off x="640080" y="5806440"/>
            <a:ext cx="1097208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Usamos YOLOv8s </a:t>
            </a:r>
            <a:r>
              <a:rPr lang="en-US" sz="1200" b="0" i="1" strike="noStrike" spc="-1">
                <a:solidFill>
                  <a:srgbClr val="F39C12"/>
                </a:solidFill>
                <a:latin typeface="Calibri"/>
                <a:ea typeface="Calibri"/>
              </a:rPr>
              <a:t>(11,2 M parámetros, mAP 44,9 en COCO, &gt; 30 FPS en GPU)</a:t>
            </a:r>
            <a:r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: balance óptimo entre precisión y velocidad para tiempo real.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248" name="Text 34"/>
          <p:cNvSpPr/>
          <p:nvPr/>
        </p:nvSpPr>
        <p:spPr>
          <a:xfrm>
            <a:off x="457200" y="6446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Sistema de Semáforo Inteligente · Diplomado IA UBB 2026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249" name="Text 35"/>
          <p:cNvSpPr/>
          <p:nvPr/>
        </p:nvSpPr>
        <p:spPr>
          <a:xfrm>
            <a:off x="11247120" y="644652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6 / 15</a:t>
            </a:r>
            <a:endParaRPr lang="es-CL" sz="9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 0"/>
          <p:cNvSpPr/>
          <p:nvPr/>
        </p:nvSpPr>
        <p:spPr>
          <a:xfrm>
            <a:off x="457200" y="320040"/>
            <a:ext cx="10965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strike="noStrike" spc="-1">
                <a:solidFill>
                  <a:srgbClr val="C0392B"/>
                </a:solidFill>
                <a:latin typeface="Georgia"/>
                <a:ea typeface="Georgia"/>
              </a:rPr>
              <a:t>06</a:t>
            </a:r>
            <a:endParaRPr lang="es-CL" sz="6000" b="0" strike="noStrike" spc="-1">
              <a:latin typeface="Arial"/>
            </a:endParaRPr>
          </a:p>
        </p:txBody>
      </p:sp>
      <p:sp>
        <p:nvSpPr>
          <p:cNvPr id="251" name="Text 1"/>
          <p:cNvSpPr/>
          <p:nvPr/>
        </p:nvSpPr>
        <p:spPr>
          <a:xfrm>
            <a:off x="1554480" y="502920"/>
            <a:ext cx="1014912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strike="noStrike" spc="-1">
                <a:solidFill>
                  <a:srgbClr val="2C3E50"/>
                </a:solidFill>
                <a:latin typeface="Georgia"/>
                <a:ea typeface="Georgia"/>
              </a:rPr>
              <a:t>Dataset y análisis exploratorio</a:t>
            </a:r>
            <a:endParaRPr lang="es-CL" sz="3000" b="0" strike="noStrike" spc="-1">
              <a:latin typeface="Arial"/>
            </a:endParaRPr>
          </a:p>
        </p:txBody>
      </p:sp>
      <p:sp>
        <p:nvSpPr>
          <p:cNvPr id="252" name="Shape 2"/>
          <p:cNvSpPr/>
          <p:nvPr/>
        </p:nvSpPr>
        <p:spPr>
          <a:xfrm>
            <a:off x="457200" y="1280160"/>
            <a:ext cx="456480" cy="54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53" name="Text 3"/>
          <p:cNvSpPr/>
          <p:nvPr/>
        </p:nvSpPr>
        <p:spPr>
          <a:xfrm>
            <a:off x="1554480" y="141732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Tres clases · división estratificada 70 / 20 / 10</a:t>
            </a:r>
            <a:endParaRPr lang="es-CL" sz="1400" b="0" strike="noStrike" spc="-1">
              <a:latin typeface="Arial"/>
            </a:endParaRPr>
          </a:p>
        </p:txBody>
      </p:sp>
      <p:sp>
        <p:nvSpPr>
          <p:cNvPr id="254" name="Text 4"/>
          <p:cNvSpPr/>
          <p:nvPr/>
        </p:nvSpPr>
        <p:spPr>
          <a:xfrm>
            <a:off x="640080" y="1920240"/>
            <a:ext cx="50284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2C3E50"/>
                </a:solidFill>
                <a:latin typeface="Georgia"/>
                <a:ea typeface="Georgia"/>
              </a:rPr>
              <a:t>Clases del modelo</a:t>
            </a:r>
            <a:endParaRPr lang="es-CL" sz="1600" b="0" strike="noStrike" spc="-1">
              <a:latin typeface="Arial"/>
            </a:endParaRPr>
          </a:p>
        </p:txBody>
      </p:sp>
      <p:sp>
        <p:nvSpPr>
          <p:cNvPr id="255" name="Shape 5"/>
          <p:cNvSpPr/>
          <p:nvPr/>
        </p:nvSpPr>
        <p:spPr>
          <a:xfrm>
            <a:off x="640080" y="2423160"/>
            <a:ext cx="776520" cy="7765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256" name="Image 0" descr="preencode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77240" y="2560320"/>
            <a:ext cx="502200" cy="502200"/>
          </a:xfrm>
          <a:prstGeom prst="rect">
            <a:avLst/>
          </a:prstGeom>
          <a:ln w="0">
            <a:noFill/>
          </a:ln>
        </p:spPr>
      </p:pic>
      <p:sp>
        <p:nvSpPr>
          <p:cNvPr id="257" name="Text 6"/>
          <p:cNvSpPr/>
          <p:nvPr/>
        </p:nvSpPr>
        <p:spPr>
          <a:xfrm>
            <a:off x="1600200" y="242316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2C3E50"/>
                </a:solidFill>
                <a:latin typeface="Calibri"/>
                <a:ea typeface="Calibri"/>
              </a:rPr>
              <a:t>0 — Peatones</a:t>
            </a:r>
            <a:endParaRPr lang="es-CL" sz="1400" b="0" strike="noStrike" spc="-1">
              <a:latin typeface="Arial"/>
            </a:endParaRPr>
          </a:p>
        </p:txBody>
      </p:sp>
      <p:sp>
        <p:nvSpPr>
          <p:cNvPr id="258" name="Text 7"/>
          <p:cNvSpPr/>
          <p:nvPr/>
        </p:nvSpPr>
        <p:spPr>
          <a:xfrm>
            <a:off x="1600200" y="2788920"/>
            <a:ext cx="411408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Personas cruzando o esperando en el cruce peatonal.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259" name="Shape 8"/>
          <p:cNvSpPr/>
          <p:nvPr/>
        </p:nvSpPr>
        <p:spPr>
          <a:xfrm>
            <a:off x="640080" y="3566160"/>
            <a:ext cx="776520" cy="77652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260" name="Image 1" descr="preencoded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77240" y="3703320"/>
            <a:ext cx="502200" cy="502200"/>
          </a:xfrm>
          <a:prstGeom prst="rect">
            <a:avLst/>
          </a:prstGeom>
          <a:ln w="0">
            <a:noFill/>
          </a:ln>
        </p:spPr>
      </p:pic>
      <p:sp>
        <p:nvSpPr>
          <p:cNvPr id="261" name="Text 9"/>
          <p:cNvSpPr/>
          <p:nvPr/>
        </p:nvSpPr>
        <p:spPr>
          <a:xfrm>
            <a:off x="1600200" y="356616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2C3E50"/>
                </a:solidFill>
                <a:latin typeface="Calibri"/>
                <a:ea typeface="Calibri"/>
              </a:rPr>
              <a:t>1 — Vehículos</a:t>
            </a:r>
            <a:endParaRPr lang="es-CL" sz="1400" b="0" strike="noStrike" spc="-1">
              <a:latin typeface="Arial"/>
            </a:endParaRPr>
          </a:p>
        </p:txBody>
      </p:sp>
      <p:sp>
        <p:nvSpPr>
          <p:cNvPr id="262" name="Text 10"/>
          <p:cNvSpPr/>
          <p:nvPr/>
        </p:nvSpPr>
        <p:spPr>
          <a:xfrm>
            <a:off x="1600200" y="3931920"/>
            <a:ext cx="411408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Autos, camionetas, SUV, camiones, motos, etc.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263" name="Shape 11"/>
          <p:cNvSpPr/>
          <p:nvPr/>
        </p:nvSpPr>
        <p:spPr>
          <a:xfrm>
            <a:off x="640080" y="4709160"/>
            <a:ext cx="776520" cy="7765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264" name="Image 2" descr="preencoded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777240" y="4846320"/>
            <a:ext cx="502200" cy="502200"/>
          </a:xfrm>
          <a:prstGeom prst="rect">
            <a:avLst/>
          </a:prstGeom>
          <a:ln w="0">
            <a:noFill/>
          </a:ln>
        </p:spPr>
      </p:pic>
      <p:sp>
        <p:nvSpPr>
          <p:cNvPr id="265" name="Text 12"/>
          <p:cNvSpPr/>
          <p:nvPr/>
        </p:nvSpPr>
        <p:spPr>
          <a:xfrm>
            <a:off x="1600200" y="470916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2C3E50"/>
                </a:solidFill>
                <a:latin typeface="Calibri"/>
                <a:ea typeface="Calibri"/>
              </a:rPr>
              <a:t>2 — Emergencia</a:t>
            </a:r>
            <a:endParaRPr lang="es-CL" sz="1400" b="0" strike="noStrike" spc="-1">
              <a:latin typeface="Arial"/>
            </a:endParaRPr>
          </a:p>
        </p:txBody>
      </p:sp>
      <p:sp>
        <p:nvSpPr>
          <p:cNvPr id="266" name="Text 13"/>
          <p:cNvSpPr/>
          <p:nvPr/>
        </p:nvSpPr>
        <p:spPr>
          <a:xfrm>
            <a:off x="1600200" y="5074920"/>
            <a:ext cx="411408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Solo con balizas encendidas (ambulancia, bomberos, carabineros).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267" name="Text 14"/>
          <p:cNvSpPr/>
          <p:nvPr/>
        </p:nvSpPr>
        <p:spPr>
          <a:xfrm>
            <a:off x="6400800" y="1920240"/>
            <a:ext cx="52113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2C3E50"/>
                </a:solidFill>
                <a:latin typeface="Georgia"/>
                <a:ea typeface="Georgia"/>
              </a:rPr>
              <a:t>Distribución típica (desbalance esperado)</a:t>
            </a:r>
            <a:endParaRPr lang="es-CL" sz="1600" b="0" strike="noStrike" spc="-1">
              <a:latin typeface="Arial"/>
            </a:endParaRPr>
          </a:p>
        </p:txBody>
      </p:sp>
      <p:graphicFrame>
        <p:nvGraphicFramePr>
          <p:cNvPr id="268" name="Chart 0"/>
          <p:cNvGraphicFramePr/>
          <p:nvPr/>
        </p:nvGraphicFramePr>
        <p:xfrm>
          <a:off x="6400800" y="2331720"/>
          <a:ext cx="5211360" cy="3199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69" name="Shape 15"/>
          <p:cNvSpPr/>
          <p:nvPr/>
        </p:nvSpPr>
        <p:spPr>
          <a:xfrm>
            <a:off x="640080" y="5760720"/>
            <a:ext cx="10972080" cy="502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270" name="Image 3" descr="preencoded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822960" y="58795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271" name="Text 16"/>
          <p:cNvSpPr/>
          <p:nvPr/>
        </p:nvSpPr>
        <p:spPr>
          <a:xfrm>
            <a:off x="1188720" y="5760720"/>
            <a:ext cx="102405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C3E50"/>
                </a:solidFill>
                <a:latin typeface="Calibri"/>
                <a:ea typeface="Calibri"/>
              </a:rPr>
              <a:t>La clase EMERGENCIA es minoritaria → priorizar augmentation, pesos de clase, y RECALL como métrica principal en esa clase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272" name="Text 17"/>
          <p:cNvSpPr/>
          <p:nvPr/>
        </p:nvSpPr>
        <p:spPr>
          <a:xfrm>
            <a:off x="457200" y="6446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Sistema de Semáforo Inteligente · Diplomado IA UBB 2026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273" name="Text 18"/>
          <p:cNvSpPr/>
          <p:nvPr/>
        </p:nvSpPr>
        <p:spPr>
          <a:xfrm>
            <a:off x="11247120" y="644652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7 / 15</a:t>
            </a:r>
            <a:endParaRPr lang="es-CL" sz="9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0"/>
          <p:cNvSpPr/>
          <p:nvPr/>
        </p:nvSpPr>
        <p:spPr>
          <a:xfrm>
            <a:off x="457200" y="320040"/>
            <a:ext cx="10965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strike="noStrike" spc="-1">
                <a:solidFill>
                  <a:srgbClr val="C0392B"/>
                </a:solidFill>
                <a:latin typeface="Georgia"/>
                <a:ea typeface="Georgia"/>
              </a:rPr>
              <a:t>07</a:t>
            </a:r>
            <a:endParaRPr lang="es-CL" sz="6000" b="0" strike="noStrike" spc="-1">
              <a:latin typeface="Arial"/>
            </a:endParaRPr>
          </a:p>
        </p:txBody>
      </p:sp>
      <p:sp>
        <p:nvSpPr>
          <p:cNvPr id="275" name="Text 1"/>
          <p:cNvSpPr/>
          <p:nvPr/>
        </p:nvSpPr>
        <p:spPr>
          <a:xfrm>
            <a:off x="1554480" y="502920"/>
            <a:ext cx="1014912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strike="noStrike" spc="-1">
                <a:solidFill>
                  <a:srgbClr val="2C3E50"/>
                </a:solidFill>
                <a:latin typeface="Georgia"/>
                <a:ea typeface="Georgia"/>
              </a:rPr>
              <a:t>Augmentation climático para Concepción</a:t>
            </a:r>
            <a:endParaRPr lang="es-CL" sz="3000" b="0" strike="noStrike" spc="-1">
              <a:latin typeface="Arial"/>
            </a:endParaRPr>
          </a:p>
        </p:txBody>
      </p:sp>
      <p:sp>
        <p:nvSpPr>
          <p:cNvPr id="276" name="Shape 2"/>
          <p:cNvSpPr/>
          <p:nvPr/>
        </p:nvSpPr>
        <p:spPr>
          <a:xfrm>
            <a:off x="457200" y="1280160"/>
            <a:ext cx="456480" cy="54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77" name="Text 3"/>
          <p:cNvSpPr/>
          <p:nvPr/>
        </p:nvSpPr>
        <p:spPr>
          <a:xfrm>
            <a:off x="1554480" y="141732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Las augmentations por defecto de YOLOv8 no simulan neblina. Agregamos Albumentations.</a:t>
            </a:r>
            <a:endParaRPr lang="es-CL" sz="1400" b="0" strike="noStrike" spc="-1">
              <a:latin typeface="Arial"/>
            </a:endParaRPr>
          </a:p>
        </p:txBody>
      </p:sp>
      <p:sp>
        <p:nvSpPr>
          <p:cNvPr id="278" name="Shape 4"/>
          <p:cNvSpPr/>
          <p:nvPr/>
        </p:nvSpPr>
        <p:spPr>
          <a:xfrm>
            <a:off x="640080" y="1965960"/>
            <a:ext cx="3519720" cy="1508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79" name="Shape 5"/>
          <p:cNvSpPr/>
          <p:nvPr/>
        </p:nvSpPr>
        <p:spPr>
          <a:xfrm>
            <a:off x="822960" y="2286000"/>
            <a:ext cx="867960" cy="86796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280" name="Image 0" descr="preencode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1014840" y="2477880"/>
            <a:ext cx="483840" cy="483840"/>
          </a:xfrm>
          <a:prstGeom prst="rect">
            <a:avLst/>
          </a:prstGeom>
          <a:ln w="0">
            <a:noFill/>
          </a:ln>
        </p:spPr>
      </p:pic>
      <p:sp>
        <p:nvSpPr>
          <p:cNvPr id="281" name="Text 6"/>
          <p:cNvSpPr/>
          <p:nvPr/>
        </p:nvSpPr>
        <p:spPr>
          <a:xfrm>
            <a:off x="1828800" y="2240280"/>
            <a:ext cx="21481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2C3E50"/>
                </a:solidFill>
                <a:latin typeface="Calibri"/>
                <a:ea typeface="Calibri"/>
              </a:rPr>
              <a:t>RandomFog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282" name="Text 7"/>
          <p:cNvSpPr/>
          <p:nvPr/>
        </p:nvSpPr>
        <p:spPr>
          <a:xfrm>
            <a:off x="1828800" y="2606040"/>
            <a:ext cx="214812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C0392B"/>
                </a:solidFill>
                <a:latin typeface="Calibri"/>
                <a:ea typeface="Calibri"/>
              </a:rPr>
              <a:t>Prob. de aplicación: 30 %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283" name="Text 8"/>
          <p:cNvSpPr/>
          <p:nvPr/>
        </p:nvSpPr>
        <p:spPr>
          <a:xfrm>
            <a:off x="1828800" y="2880360"/>
            <a:ext cx="2148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C3E50"/>
                </a:solidFill>
                <a:latin typeface="Calibri"/>
                <a:ea typeface="Calibri"/>
              </a:rPr>
              <a:t>Niebla leve y densa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284" name="Shape 9"/>
          <p:cNvSpPr/>
          <p:nvPr/>
        </p:nvSpPr>
        <p:spPr>
          <a:xfrm>
            <a:off x="4343400" y="1965960"/>
            <a:ext cx="3519720" cy="1508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85" name="Shape 10"/>
          <p:cNvSpPr/>
          <p:nvPr/>
        </p:nvSpPr>
        <p:spPr>
          <a:xfrm>
            <a:off x="4526280" y="2286000"/>
            <a:ext cx="867960" cy="86796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286" name="Image 1" descr="preencode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718160" y="2477880"/>
            <a:ext cx="483840" cy="483840"/>
          </a:xfrm>
          <a:prstGeom prst="rect">
            <a:avLst/>
          </a:prstGeom>
          <a:ln w="0">
            <a:noFill/>
          </a:ln>
        </p:spPr>
      </p:pic>
      <p:sp>
        <p:nvSpPr>
          <p:cNvPr id="287" name="Text 11"/>
          <p:cNvSpPr/>
          <p:nvPr/>
        </p:nvSpPr>
        <p:spPr>
          <a:xfrm>
            <a:off x="5532120" y="2240280"/>
            <a:ext cx="21481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2C3E50"/>
                </a:solidFill>
                <a:latin typeface="Calibri"/>
                <a:ea typeface="Calibri"/>
              </a:rPr>
              <a:t>RandomRain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288" name="Text 12"/>
          <p:cNvSpPr/>
          <p:nvPr/>
        </p:nvSpPr>
        <p:spPr>
          <a:xfrm>
            <a:off x="5532120" y="2606040"/>
            <a:ext cx="214812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C0392B"/>
                </a:solidFill>
                <a:latin typeface="Calibri"/>
                <a:ea typeface="Calibri"/>
              </a:rPr>
              <a:t>Prob. de aplicación: 20 %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289" name="Text 13"/>
          <p:cNvSpPr/>
          <p:nvPr/>
        </p:nvSpPr>
        <p:spPr>
          <a:xfrm>
            <a:off x="5532120" y="2880360"/>
            <a:ext cx="2148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C3E50"/>
                </a:solidFill>
                <a:latin typeface="Calibri"/>
                <a:ea typeface="Calibri"/>
              </a:rPr>
              <a:t>Gotas y trazos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290" name="Shape 14"/>
          <p:cNvSpPr/>
          <p:nvPr/>
        </p:nvSpPr>
        <p:spPr>
          <a:xfrm>
            <a:off x="8046720" y="1965960"/>
            <a:ext cx="3519720" cy="1508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91" name="Shape 15"/>
          <p:cNvSpPr/>
          <p:nvPr/>
        </p:nvSpPr>
        <p:spPr>
          <a:xfrm>
            <a:off x="8229600" y="2286000"/>
            <a:ext cx="867960" cy="86796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292" name="Image 2" descr="preencoded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8421480" y="2477880"/>
            <a:ext cx="483840" cy="483840"/>
          </a:xfrm>
          <a:prstGeom prst="rect">
            <a:avLst/>
          </a:prstGeom>
          <a:ln w="0">
            <a:noFill/>
          </a:ln>
        </p:spPr>
      </p:pic>
      <p:sp>
        <p:nvSpPr>
          <p:cNvPr id="293" name="Text 16"/>
          <p:cNvSpPr/>
          <p:nvPr/>
        </p:nvSpPr>
        <p:spPr>
          <a:xfrm>
            <a:off x="9235440" y="2240280"/>
            <a:ext cx="21481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2C3E50"/>
                </a:solidFill>
                <a:latin typeface="Calibri"/>
                <a:ea typeface="Calibri"/>
              </a:rPr>
              <a:t>RandomBrightnessContrast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294" name="Text 17"/>
          <p:cNvSpPr/>
          <p:nvPr/>
        </p:nvSpPr>
        <p:spPr>
          <a:xfrm>
            <a:off x="9235440" y="2606040"/>
            <a:ext cx="214812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C0392B"/>
                </a:solidFill>
                <a:latin typeface="Calibri"/>
                <a:ea typeface="Calibri"/>
              </a:rPr>
              <a:t>Prob. de aplicación: 35 %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295" name="Text 18"/>
          <p:cNvSpPr/>
          <p:nvPr/>
        </p:nvSpPr>
        <p:spPr>
          <a:xfrm>
            <a:off x="9235440" y="2880360"/>
            <a:ext cx="2148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C3E50"/>
                </a:solidFill>
                <a:latin typeface="Calibri"/>
                <a:ea typeface="Calibri"/>
              </a:rPr>
              <a:t>Amanecer / atardecer / noche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296" name="Shape 19"/>
          <p:cNvSpPr/>
          <p:nvPr/>
        </p:nvSpPr>
        <p:spPr>
          <a:xfrm>
            <a:off x="640080" y="3657600"/>
            <a:ext cx="3519720" cy="1508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97" name="Shape 20"/>
          <p:cNvSpPr/>
          <p:nvPr/>
        </p:nvSpPr>
        <p:spPr>
          <a:xfrm>
            <a:off x="822960" y="3977640"/>
            <a:ext cx="867960" cy="86796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298" name="Image 3" descr="preencoded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1014840" y="4169520"/>
            <a:ext cx="483840" cy="483840"/>
          </a:xfrm>
          <a:prstGeom prst="rect">
            <a:avLst/>
          </a:prstGeom>
          <a:ln w="0">
            <a:noFill/>
          </a:ln>
        </p:spPr>
      </p:pic>
      <p:sp>
        <p:nvSpPr>
          <p:cNvPr id="299" name="Text 21"/>
          <p:cNvSpPr/>
          <p:nvPr/>
        </p:nvSpPr>
        <p:spPr>
          <a:xfrm>
            <a:off x="1828800" y="3931920"/>
            <a:ext cx="21481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2C3E50"/>
                </a:solidFill>
                <a:latin typeface="Calibri"/>
                <a:ea typeface="Calibri"/>
              </a:rPr>
              <a:t>RandomShadow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300" name="Text 22"/>
          <p:cNvSpPr/>
          <p:nvPr/>
        </p:nvSpPr>
        <p:spPr>
          <a:xfrm>
            <a:off x="1828800" y="4297680"/>
            <a:ext cx="214812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C0392B"/>
                </a:solidFill>
                <a:latin typeface="Calibri"/>
                <a:ea typeface="Calibri"/>
              </a:rPr>
              <a:t>Prob. de aplicación: 20 %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301" name="Text 23"/>
          <p:cNvSpPr/>
          <p:nvPr/>
        </p:nvSpPr>
        <p:spPr>
          <a:xfrm>
            <a:off x="1828800" y="4572000"/>
            <a:ext cx="2148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C3E50"/>
                </a:solidFill>
                <a:latin typeface="Calibri"/>
                <a:ea typeface="Calibri"/>
              </a:rPr>
              <a:t>Sombras de árboles, postes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302" name="Shape 24"/>
          <p:cNvSpPr/>
          <p:nvPr/>
        </p:nvSpPr>
        <p:spPr>
          <a:xfrm>
            <a:off x="4343400" y="3657600"/>
            <a:ext cx="3519720" cy="1508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03" name="Shape 25"/>
          <p:cNvSpPr/>
          <p:nvPr/>
        </p:nvSpPr>
        <p:spPr>
          <a:xfrm>
            <a:off x="4526280" y="3977640"/>
            <a:ext cx="867960" cy="86796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304" name="Image 4" descr="preencoded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4718160" y="4169520"/>
            <a:ext cx="483840" cy="483840"/>
          </a:xfrm>
          <a:prstGeom prst="rect">
            <a:avLst/>
          </a:prstGeom>
          <a:ln w="0">
            <a:noFill/>
          </a:ln>
        </p:spPr>
      </p:pic>
      <p:sp>
        <p:nvSpPr>
          <p:cNvPr id="305" name="Text 26"/>
          <p:cNvSpPr/>
          <p:nvPr/>
        </p:nvSpPr>
        <p:spPr>
          <a:xfrm>
            <a:off x="5532120" y="3931920"/>
            <a:ext cx="21481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2C3E50"/>
                </a:solidFill>
                <a:latin typeface="Calibri"/>
                <a:ea typeface="Calibri"/>
              </a:rPr>
              <a:t>Motion + Gaussian Blur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306" name="Text 27"/>
          <p:cNvSpPr/>
          <p:nvPr/>
        </p:nvSpPr>
        <p:spPr>
          <a:xfrm>
            <a:off x="5532120" y="4297680"/>
            <a:ext cx="214812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C0392B"/>
                </a:solidFill>
                <a:latin typeface="Calibri"/>
                <a:ea typeface="Calibri"/>
              </a:rPr>
              <a:t>Prob. de aplicación: 20 %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307" name="Text 28"/>
          <p:cNvSpPr/>
          <p:nvPr/>
        </p:nvSpPr>
        <p:spPr>
          <a:xfrm>
            <a:off x="5532120" y="4572000"/>
            <a:ext cx="2148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C3E50"/>
                </a:solidFill>
                <a:latin typeface="Calibri"/>
                <a:ea typeface="Calibri"/>
              </a:rPr>
              <a:t>Vibración, niebla densa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308" name="Shape 29"/>
          <p:cNvSpPr/>
          <p:nvPr/>
        </p:nvSpPr>
        <p:spPr>
          <a:xfrm>
            <a:off x="8046720" y="3657600"/>
            <a:ext cx="3519720" cy="1508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09" name="Shape 30"/>
          <p:cNvSpPr/>
          <p:nvPr/>
        </p:nvSpPr>
        <p:spPr>
          <a:xfrm>
            <a:off x="8229600" y="3977640"/>
            <a:ext cx="867960" cy="86796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310" name="Image 5" descr="preencoded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8421480" y="4169520"/>
            <a:ext cx="483840" cy="483840"/>
          </a:xfrm>
          <a:prstGeom prst="rect">
            <a:avLst/>
          </a:prstGeom>
          <a:ln w="0">
            <a:noFill/>
          </a:ln>
        </p:spPr>
      </p:pic>
      <p:sp>
        <p:nvSpPr>
          <p:cNvPr id="311" name="Text 31"/>
          <p:cNvSpPr/>
          <p:nvPr/>
        </p:nvSpPr>
        <p:spPr>
          <a:xfrm>
            <a:off x="9235440" y="3931920"/>
            <a:ext cx="21481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2C3E50"/>
                </a:solidFill>
                <a:latin typeface="Calibri"/>
                <a:ea typeface="Calibri"/>
              </a:rPr>
              <a:t>ISONoise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312" name="Text 32"/>
          <p:cNvSpPr/>
          <p:nvPr/>
        </p:nvSpPr>
        <p:spPr>
          <a:xfrm>
            <a:off x="9235440" y="4297680"/>
            <a:ext cx="214812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strike="noStrike" spc="-1">
                <a:solidFill>
                  <a:srgbClr val="C0392B"/>
                </a:solidFill>
                <a:latin typeface="Calibri"/>
                <a:ea typeface="Calibri"/>
              </a:rPr>
              <a:t>Prob. de aplicación: 15 %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313" name="Text 33"/>
          <p:cNvSpPr/>
          <p:nvPr/>
        </p:nvSpPr>
        <p:spPr>
          <a:xfrm>
            <a:off x="9235440" y="4572000"/>
            <a:ext cx="2148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2C3E50"/>
                </a:solidFill>
                <a:latin typeface="Calibri"/>
                <a:ea typeface="Calibri"/>
              </a:rPr>
              <a:t>Ruido de baja luz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314" name="Shape 34"/>
          <p:cNvSpPr/>
          <p:nvPr/>
        </p:nvSpPr>
        <p:spPr>
          <a:xfrm>
            <a:off x="640080" y="5440680"/>
            <a:ext cx="10972080" cy="8222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15" name="Text 35"/>
          <p:cNvSpPr/>
          <p:nvPr/>
        </p:nvSpPr>
        <p:spPr>
          <a:xfrm>
            <a:off x="822960" y="5440680"/>
            <a:ext cx="1060632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F39C12"/>
                </a:solidFill>
                <a:latin typeface="Calibri"/>
                <a:ea typeface="Calibri"/>
              </a:rPr>
              <a:t>Resultado:</a:t>
            </a: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 2 copias aumentadas por imagen original (offline) → el modelo aprende a generalizar a condiciones que </a:t>
            </a:r>
            <a:r>
              <a:rPr lang="en-US" sz="1300" b="0" i="1" strike="noStrike" spc="-1">
                <a:solidFill>
                  <a:srgbClr val="FFFFFF"/>
                </a:solidFill>
                <a:latin typeface="Calibri"/>
                <a:ea typeface="Calibri"/>
              </a:rPr>
              <a:t>no estaban en el dataset original</a:t>
            </a: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, sin requerir miles de fotos adicionales con neblina real.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316" name="Text 36"/>
          <p:cNvSpPr/>
          <p:nvPr/>
        </p:nvSpPr>
        <p:spPr>
          <a:xfrm>
            <a:off x="457200" y="6446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Sistema de Semáforo Inteligente · Diplomado IA UBB 2026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317" name="Text 37"/>
          <p:cNvSpPr/>
          <p:nvPr/>
        </p:nvSpPr>
        <p:spPr>
          <a:xfrm>
            <a:off x="11247120" y="644652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8 / 15</a:t>
            </a:r>
            <a:endParaRPr lang="es-CL" sz="9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457200" y="320040"/>
            <a:ext cx="10965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strike="noStrike" spc="-1">
                <a:solidFill>
                  <a:srgbClr val="C0392B"/>
                </a:solidFill>
                <a:latin typeface="Georgia"/>
                <a:ea typeface="Georgia"/>
              </a:rPr>
              <a:t>08</a:t>
            </a:r>
            <a:endParaRPr lang="es-CL" sz="6000" b="0" strike="noStrike" spc="-1">
              <a:latin typeface="Arial"/>
            </a:endParaRPr>
          </a:p>
        </p:txBody>
      </p:sp>
      <p:sp>
        <p:nvSpPr>
          <p:cNvPr id="319" name="Text 1"/>
          <p:cNvSpPr/>
          <p:nvPr/>
        </p:nvSpPr>
        <p:spPr>
          <a:xfrm>
            <a:off x="1554480" y="502920"/>
            <a:ext cx="1014912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strike="noStrike" spc="-1">
                <a:solidFill>
                  <a:srgbClr val="2C3E50"/>
                </a:solidFill>
                <a:latin typeface="Georgia"/>
                <a:ea typeface="Georgia"/>
              </a:rPr>
              <a:t>Detector de baja visibilidad</a:t>
            </a:r>
            <a:endParaRPr lang="es-CL" sz="3000" b="0" strike="noStrike" spc="-1">
              <a:latin typeface="Arial"/>
            </a:endParaRPr>
          </a:p>
        </p:txBody>
      </p:sp>
      <p:sp>
        <p:nvSpPr>
          <p:cNvPr id="320" name="Shape 2"/>
          <p:cNvSpPr/>
          <p:nvPr/>
        </p:nvSpPr>
        <p:spPr>
          <a:xfrm>
            <a:off x="457200" y="1280160"/>
            <a:ext cx="456480" cy="54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21" name="Text 3"/>
          <p:cNvSpPr/>
          <p:nvPr/>
        </p:nvSpPr>
        <p:spPr>
          <a:xfrm>
            <a:off x="1554480" y="141732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El sistema sabe cuándo NO confiar en sus propias detecciones (&lt; 1 ms por frame)</a:t>
            </a:r>
            <a:endParaRPr lang="es-CL" sz="1400" b="0" strike="noStrike" spc="-1">
              <a:latin typeface="Arial"/>
            </a:endParaRPr>
          </a:p>
        </p:txBody>
      </p:sp>
      <p:sp>
        <p:nvSpPr>
          <p:cNvPr id="322" name="Shape 4"/>
          <p:cNvSpPr/>
          <p:nvPr/>
        </p:nvSpPr>
        <p:spPr>
          <a:xfrm>
            <a:off x="640080" y="1965960"/>
            <a:ext cx="3611160" cy="329112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23" name="Shape 5"/>
          <p:cNvSpPr/>
          <p:nvPr/>
        </p:nvSpPr>
        <p:spPr>
          <a:xfrm>
            <a:off x="640080" y="1965960"/>
            <a:ext cx="3611160" cy="72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24" name="Text 6"/>
          <p:cNvSpPr/>
          <p:nvPr/>
        </p:nvSpPr>
        <p:spPr>
          <a:xfrm>
            <a:off x="914400" y="2194560"/>
            <a:ext cx="137088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strike="noStrike" spc="-1">
                <a:solidFill>
                  <a:srgbClr val="C0392B"/>
                </a:solidFill>
                <a:latin typeface="Georgia"/>
                <a:ea typeface="Georgia"/>
              </a:rPr>
              <a:t>01</a:t>
            </a:r>
            <a:endParaRPr lang="es-CL" sz="5000" b="0" strike="noStrike" spc="-1">
              <a:latin typeface="Arial"/>
            </a:endParaRPr>
          </a:p>
        </p:txBody>
      </p:sp>
      <p:sp>
        <p:nvSpPr>
          <p:cNvPr id="325" name="Shape 7"/>
          <p:cNvSpPr/>
          <p:nvPr/>
        </p:nvSpPr>
        <p:spPr>
          <a:xfrm>
            <a:off x="2743200" y="2377440"/>
            <a:ext cx="1370880" cy="5479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26" name="Text 8"/>
          <p:cNvSpPr/>
          <p:nvPr/>
        </p:nvSpPr>
        <p:spPr>
          <a:xfrm>
            <a:off x="2743200" y="2377440"/>
            <a:ext cx="1370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onsolas"/>
                <a:ea typeface="Consolas"/>
              </a:rPr>
              <a:t>var(∇²I)</a:t>
            </a:r>
            <a:endParaRPr lang="es-CL" sz="1600" b="0" strike="noStrike" spc="-1">
              <a:latin typeface="Arial"/>
            </a:endParaRPr>
          </a:p>
        </p:txBody>
      </p:sp>
      <p:sp>
        <p:nvSpPr>
          <p:cNvPr id="327" name="Text 9"/>
          <p:cNvSpPr/>
          <p:nvPr/>
        </p:nvSpPr>
        <p:spPr>
          <a:xfrm>
            <a:off x="914400" y="329184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strike="noStrike" spc="-1">
                <a:solidFill>
                  <a:srgbClr val="2C3E50"/>
                </a:solidFill>
                <a:latin typeface="Georgia"/>
                <a:ea typeface="Georgia"/>
              </a:rPr>
              <a:t>Varianza del Laplaciano</a:t>
            </a:r>
            <a:endParaRPr lang="es-CL" sz="1500" b="0" strike="noStrike" spc="-1">
              <a:latin typeface="Arial"/>
            </a:endParaRPr>
          </a:p>
        </p:txBody>
      </p:sp>
      <p:sp>
        <p:nvSpPr>
          <p:cNvPr id="328" name="Text 10"/>
          <p:cNvSpPr/>
          <p:nvPr/>
        </p:nvSpPr>
        <p:spPr>
          <a:xfrm>
            <a:off x="914400" y="365760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Nitidez / borrosidad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329" name="Shape 11"/>
          <p:cNvSpPr/>
          <p:nvPr/>
        </p:nvSpPr>
        <p:spPr>
          <a:xfrm>
            <a:off x="914400" y="4069080"/>
            <a:ext cx="109080" cy="365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30" name="Text 12"/>
          <p:cNvSpPr/>
          <p:nvPr/>
        </p:nvSpPr>
        <p:spPr>
          <a:xfrm>
            <a:off x="1143000" y="4041720"/>
            <a:ext cx="137088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C0392B"/>
                </a:solidFill>
                <a:latin typeface="Calibri"/>
                <a:ea typeface="Calibri"/>
              </a:rPr>
              <a:t>CRÍTICO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331" name="Text 13"/>
          <p:cNvSpPr/>
          <p:nvPr/>
        </p:nvSpPr>
        <p:spPr>
          <a:xfrm>
            <a:off x="1143000" y="422460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&lt; 50 → muy borrosa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332" name="Shape 14"/>
          <p:cNvSpPr/>
          <p:nvPr/>
        </p:nvSpPr>
        <p:spPr>
          <a:xfrm>
            <a:off x="914400" y="4572000"/>
            <a:ext cx="109080" cy="365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33" name="Text 15"/>
          <p:cNvSpPr/>
          <p:nvPr/>
        </p:nvSpPr>
        <p:spPr>
          <a:xfrm>
            <a:off x="1143000" y="4544640"/>
            <a:ext cx="137088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F39C12"/>
                </a:solidFill>
                <a:latin typeface="Calibri"/>
                <a:ea typeface="Calibri"/>
              </a:rPr>
              <a:t>BAJO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334" name="Text 16"/>
          <p:cNvSpPr/>
          <p:nvPr/>
        </p:nvSpPr>
        <p:spPr>
          <a:xfrm>
            <a:off x="1143000" y="472752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&lt; 100 → reducida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335" name="Shape 17"/>
          <p:cNvSpPr/>
          <p:nvPr/>
        </p:nvSpPr>
        <p:spPr>
          <a:xfrm>
            <a:off x="4434840" y="1965960"/>
            <a:ext cx="3611160" cy="329112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36" name="Shape 18"/>
          <p:cNvSpPr/>
          <p:nvPr/>
        </p:nvSpPr>
        <p:spPr>
          <a:xfrm>
            <a:off x="4434840" y="1965960"/>
            <a:ext cx="3611160" cy="72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37" name="Text 19"/>
          <p:cNvSpPr/>
          <p:nvPr/>
        </p:nvSpPr>
        <p:spPr>
          <a:xfrm>
            <a:off x="4709160" y="2194560"/>
            <a:ext cx="137088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strike="noStrike" spc="-1">
                <a:solidFill>
                  <a:srgbClr val="C0392B"/>
                </a:solidFill>
                <a:latin typeface="Georgia"/>
                <a:ea typeface="Georgia"/>
              </a:rPr>
              <a:t>02</a:t>
            </a:r>
            <a:endParaRPr lang="es-CL" sz="5000" b="0" strike="noStrike" spc="-1">
              <a:latin typeface="Arial"/>
            </a:endParaRPr>
          </a:p>
        </p:txBody>
      </p:sp>
      <p:sp>
        <p:nvSpPr>
          <p:cNvPr id="338" name="Shape 20"/>
          <p:cNvSpPr/>
          <p:nvPr/>
        </p:nvSpPr>
        <p:spPr>
          <a:xfrm>
            <a:off x="6537960" y="2377440"/>
            <a:ext cx="1370880" cy="5479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39" name="Text 21"/>
          <p:cNvSpPr/>
          <p:nvPr/>
        </p:nvSpPr>
        <p:spPr>
          <a:xfrm>
            <a:off x="6537960" y="2377440"/>
            <a:ext cx="1370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onsolas"/>
                <a:ea typeface="Consolas"/>
              </a:rPr>
              <a:t>σ(gris)</a:t>
            </a:r>
            <a:endParaRPr lang="es-CL" sz="1600" b="0" strike="noStrike" spc="-1">
              <a:latin typeface="Arial"/>
            </a:endParaRPr>
          </a:p>
        </p:txBody>
      </p:sp>
      <p:sp>
        <p:nvSpPr>
          <p:cNvPr id="340" name="Text 22"/>
          <p:cNvSpPr/>
          <p:nvPr/>
        </p:nvSpPr>
        <p:spPr>
          <a:xfrm>
            <a:off x="4709160" y="329184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strike="noStrike" spc="-1">
                <a:solidFill>
                  <a:srgbClr val="2C3E50"/>
                </a:solidFill>
                <a:latin typeface="Georgia"/>
                <a:ea typeface="Georgia"/>
              </a:rPr>
              <a:t>Contraste RMS</a:t>
            </a:r>
            <a:endParaRPr lang="es-CL" sz="1500" b="0" strike="noStrike" spc="-1">
              <a:latin typeface="Arial"/>
            </a:endParaRPr>
          </a:p>
        </p:txBody>
      </p:sp>
      <p:sp>
        <p:nvSpPr>
          <p:cNvPr id="341" name="Text 23"/>
          <p:cNvSpPr/>
          <p:nvPr/>
        </p:nvSpPr>
        <p:spPr>
          <a:xfrm>
            <a:off x="4709160" y="365760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Diferencia claro / oscuro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342" name="Shape 24"/>
          <p:cNvSpPr/>
          <p:nvPr/>
        </p:nvSpPr>
        <p:spPr>
          <a:xfrm>
            <a:off x="4709160" y="4069080"/>
            <a:ext cx="109080" cy="365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43" name="Text 25"/>
          <p:cNvSpPr/>
          <p:nvPr/>
        </p:nvSpPr>
        <p:spPr>
          <a:xfrm>
            <a:off x="4937760" y="4041720"/>
            <a:ext cx="137088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C0392B"/>
                </a:solidFill>
                <a:latin typeface="Calibri"/>
                <a:ea typeface="Calibri"/>
              </a:rPr>
              <a:t>CRÍTICO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344" name="Text 26"/>
          <p:cNvSpPr/>
          <p:nvPr/>
        </p:nvSpPr>
        <p:spPr>
          <a:xfrm>
            <a:off x="4937760" y="422460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&lt; 20 → niebla densa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345" name="Shape 27"/>
          <p:cNvSpPr/>
          <p:nvPr/>
        </p:nvSpPr>
        <p:spPr>
          <a:xfrm>
            <a:off x="4709160" y="4572000"/>
            <a:ext cx="109080" cy="365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46" name="Text 28"/>
          <p:cNvSpPr/>
          <p:nvPr/>
        </p:nvSpPr>
        <p:spPr>
          <a:xfrm>
            <a:off x="4937760" y="4544640"/>
            <a:ext cx="137088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F39C12"/>
                </a:solidFill>
                <a:latin typeface="Calibri"/>
                <a:ea typeface="Calibri"/>
              </a:rPr>
              <a:t>BAJO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347" name="Text 29"/>
          <p:cNvSpPr/>
          <p:nvPr/>
        </p:nvSpPr>
        <p:spPr>
          <a:xfrm>
            <a:off x="4937760" y="472752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&lt; 35 → posible neblina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348" name="Shape 30"/>
          <p:cNvSpPr/>
          <p:nvPr/>
        </p:nvSpPr>
        <p:spPr>
          <a:xfrm>
            <a:off x="8229600" y="1965960"/>
            <a:ext cx="3611160" cy="329112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49" name="Shape 31"/>
          <p:cNvSpPr/>
          <p:nvPr/>
        </p:nvSpPr>
        <p:spPr>
          <a:xfrm>
            <a:off x="8229600" y="1965960"/>
            <a:ext cx="3611160" cy="72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50" name="Text 32"/>
          <p:cNvSpPr/>
          <p:nvPr/>
        </p:nvSpPr>
        <p:spPr>
          <a:xfrm>
            <a:off x="8503920" y="2194560"/>
            <a:ext cx="137088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strike="noStrike" spc="-1">
                <a:solidFill>
                  <a:srgbClr val="C0392B"/>
                </a:solidFill>
                <a:latin typeface="Georgia"/>
                <a:ea typeface="Georgia"/>
              </a:rPr>
              <a:t>03</a:t>
            </a:r>
            <a:endParaRPr lang="es-CL" sz="5000" b="0" strike="noStrike" spc="-1">
              <a:latin typeface="Arial"/>
            </a:endParaRPr>
          </a:p>
        </p:txBody>
      </p:sp>
      <p:sp>
        <p:nvSpPr>
          <p:cNvPr id="351" name="Shape 33"/>
          <p:cNvSpPr/>
          <p:nvPr/>
        </p:nvSpPr>
        <p:spPr>
          <a:xfrm>
            <a:off x="10332720" y="2377440"/>
            <a:ext cx="1370880" cy="5479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52" name="Text 34"/>
          <p:cNvSpPr/>
          <p:nvPr/>
        </p:nvSpPr>
        <p:spPr>
          <a:xfrm>
            <a:off x="10332720" y="2377440"/>
            <a:ext cx="1370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onsolas"/>
                <a:ea typeface="Consolas"/>
              </a:rPr>
              <a:t>μ(gris)</a:t>
            </a:r>
            <a:endParaRPr lang="es-CL" sz="1600" b="0" strike="noStrike" spc="-1">
              <a:latin typeface="Arial"/>
            </a:endParaRPr>
          </a:p>
        </p:txBody>
      </p:sp>
      <p:sp>
        <p:nvSpPr>
          <p:cNvPr id="353" name="Text 35"/>
          <p:cNvSpPr/>
          <p:nvPr/>
        </p:nvSpPr>
        <p:spPr>
          <a:xfrm>
            <a:off x="8503920" y="329184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strike="noStrike" spc="-1">
                <a:solidFill>
                  <a:srgbClr val="2C3E50"/>
                </a:solidFill>
                <a:latin typeface="Georgia"/>
                <a:ea typeface="Georgia"/>
              </a:rPr>
              <a:t>Brillo medio</a:t>
            </a:r>
            <a:endParaRPr lang="es-CL" sz="1500" b="0" strike="noStrike" spc="-1">
              <a:latin typeface="Arial"/>
            </a:endParaRPr>
          </a:p>
        </p:txBody>
      </p:sp>
      <p:sp>
        <p:nvSpPr>
          <p:cNvPr id="354" name="Text 36"/>
          <p:cNvSpPr/>
          <p:nvPr/>
        </p:nvSpPr>
        <p:spPr>
          <a:xfrm>
            <a:off x="8503920" y="365760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Luminancia global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355" name="Shape 37"/>
          <p:cNvSpPr/>
          <p:nvPr/>
        </p:nvSpPr>
        <p:spPr>
          <a:xfrm>
            <a:off x="8503920" y="4069080"/>
            <a:ext cx="109080" cy="365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56" name="Text 38"/>
          <p:cNvSpPr/>
          <p:nvPr/>
        </p:nvSpPr>
        <p:spPr>
          <a:xfrm>
            <a:off x="8732520" y="4041720"/>
            <a:ext cx="137088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C0392B"/>
                </a:solidFill>
                <a:latin typeface="Calibri"/>
                <a:ea typeface="Calibri"/>
              </a:rPr>
              <a:t>CRÍTICO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357" name="Text 39"/>
          <p:cNvSpPr/>
          <p:nvPr/>
        </p:nvSpPr>
        <p:spPr>
          <a:xfrm>
            <a:off x="8732520" y="422460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&lt; 40 oscura / &gt; 215 sobreexpuesta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358" name="Shape 40"/>
          <p:cNvSpPr/>
          <p:nvPr/>
        </p:nvSpPr>
        <p:spPr>
          <a:xfrm>
            <a:off x="8503920" y="4572000"/>
            <a:ext cx="109080" cy="365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59" name="Text 41"/>
          <p:cNvSpPr/>
          <p:nvPr/>
        </p:nvSpPr>
        <p:spPr>
          <a:xfrm>
            <a:off x="8732520" y="4544640"/>
            <a:ext cx="137088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F39C12"/>
                </a:solidFill>
                <a:latin typeface="Calibri"/>
                <a:ea typeface="Calibri"/>
              </a:rPr>
              <a:t>BAJO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360" name="Text 42"/>
          <p:cNvSpPr/>
          <p:nvPr/>
        </p:nvSpPr>
        <p:spPr>
          <a:xfrm>
            <a:off x="8732520" y="472752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—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361" name="Shape 43"/>
          <p:cNvSpPr/>
          <p:nvPr/>
        </p:nvSpPr>
        <p:spPr>
          <a:xfrm>
            <a:off x="640080" y="5486400"/>
            <a:ext cx="10972080" cy="776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362" name="Image 0" descr="preencode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868680" y="565092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363" name="Text 44"/>
          <p:cNvSpPr/>
          <p:nvPr/>
        </p:nvSpPr>
        <p:spPr>
          <a:xfrm>
            <a:off x="1463040" y="5486400"/>
            <a:ext cx="1005768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Si la imagen no es confiable → activar FALLA SEGURA (slide siguiente). Umbrales calibrables en terreno.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364" name="Text 45"/>
          <p:cNvSpPr/>
          <p:nvPr/>
        </p:nvSpPr>
        <p:spPr>
          <a:xfrm>
            <a:off x="457200" y="6446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Sistema de Semáforo Inteligente · Diplomado IA UBB 2026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365" name="Text 46"/>
          <p:cNvSpPr/>
          <p:nvPr/>
        </p:nvSpPr>
        <p:spPr>
          <a:xfrm>
            <a:off x="11247120" y="644652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9 / 15</a:t>
            </a:r>
            <a:endParaRPr lang="es-CL" sz="9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 0"/>
          <p:cNvSpPr/>
          <p:nvPr/>
        </p:nvSpPr>
        <p:spPr>
          <a:xfrm>
            <a:off x="457200" y="320040"/>
            <a:ext cx="10965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strike="noStrike" spc="-1">
                <a:solidFill>
                  <a:srgbClr val="C0392B"/>
                </a:solidFill>
                <a:latin typeface="Georgia"/>
                <a:ea typeface="Georgia"/>
              </a:rPr>
              <a:t>09</a:t>
            </a:r>
            <a:endParaRPr lang="es-CL" sz="6000" b="0" strike="noStrike" spc="-1">
              <a:latin typeface="Arial"/>
            </a:endParaRPr>
          </a:p>
        </p:txBody>
      </p:sp>
      <p:sp>
        <p:nvSpPr>
          <p:cNvPr id="367" name="Text 1"/>
          <p:cNvSpPr/>
          <p:nvPr/>
        </p:nvSpPr>
        <p:spPr>
          <a:xfrm>
            <a:off x="1554480" y="502920"/>
            <a:ext cx="1014912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strike="noStrike" spc="-1">
                <a:solidFill>
                  <a:srgbClr val="2C3E50"/>
                </a:solidFill>
                <a:latin typeface="Georgia"/>
                <a:ea typeface="Georgia"/>
              </a:rPr>
              <a:t>Fases del semáforo + reglas con prioridad</a:t>
            </a:r>
            <a:endParaRPr lang="es-CL" sz="3000" b="0" strike="noStrike" spc="-1">
              <a:latin typeface="Arial"/>
            </a:endParaRPr>
          </a:p>
        </p:txBody>
      </p:sp>
      <p:sp>
        <p:nvSpPr>
          <p:cNvPr id="368" name="Shape 2"/>
          <p:cNvSpPr/>
          <p:nvPr/>
        </p:nvSpPr>
        <p:spPr>
          <a:xfrm>
            <a:off x="457200" y="1280160"/>
            <a:ext cx="456480" cy="54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69" name="Text 3"/>
          <p:cNvSpPr/>
          <p:nvPr/>
        </p:nvSpPr>
        <p:spPr>
          <a:xfrm>
            <a:off x="1554480" y="141732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5 fases · 4 reglas en cascada · Regla 0 prevalece (IEC 61508)</a:t>
            </a:r>
            <a:endParaRPr lang="es-CL" sz="1300" b="0" strike="noStrike" spc="-1">
              <a:latin typeface="Arial"/>
            </a:endParaRPr>
          </a:p>
        </p:txBody>
      </p:sp>
      <p:sp>
        <p:nvSpPr>
          <p:cNvPr id="370" name="Text 4"/>
          <p:cNvSpPr/>
          <p:nvPr/>
        </p:nvSpPr>
        <p:spPr>
          <a:xfrm>
            <a:off x="640080" y="182880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C3E50"/>
                </a:solidFill>
                <a:latin typeface="Georgia"/>
                <a:ea typeface="Georgia"/>
              </a:rPr>
              <a:t>Fases operacionales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371" name="Shape 5"/>
          <p:cNvSpPr/>
          <p:nvPr/>
        </p:nvSpPr>
        <p:spPr>
          <a:xfrm>
            <a:off x="640080" y="2194560"/>
            <a:ext cx="2696760" cy="187380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72" name="Shape 6"/>
          <p:cNvSpPr/>
          <p:nvPr/>
        </p:nvSpPr>
        <p:spPr>
          <a:xfrm>
            <a:off x="640080" y="2194560"/>
            <a:ext cx="2696760" cy="319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73" name="Text 7"/>
          <p:cNvSpPr/>
          <p:nvPr/>
        </p:nvSpPr>
        <p:spPr>
          <a:xfrm>
            <a:off x="731520" y="2194560"/>
            <a:ext cx="2513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94">
                <a:solidFill>
                  <a:srgbClr val="FFFFFF"/>
                </a:solidFill>
                <a:latin typeface="Calibri"/>
                <a:ea typeface="Calibri"/>
              </a:rPr>
              <a:t>FASE_SN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374" name="Shape 8"/>
          <p:cNvSpPr/>
          <p:nvPr/>
        </p:nvSpPr>
        <p:spPr>
          <a:xfrm>
            <a:off x="1486080" y="2990160"/>
            <a:ext cx="1005120" cy="328320"/>
          </a:xfrm>
          <a:prstGeom prst="rect">
            <a:avLst/>
          </a:prstGeom>
          <a:solidFill>
            <a:srgbClr val="2C3E50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75" name="Shape 9"/>
          <p:cNvSpPr/>
          <p:nvPr/>
        </p:nvSpPr>
        <p:spPr>
          <a:xfrm>
            <a:off x="1824120" y="2651760"/>
            <a:ext cx="328320" cy="100512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76" name="Shape 10"/>
          <p:cNvSpPr/>
          <p:nvPr/>
        </p:nvSpPr>
        <p:spPr>
          <a:xfrm>
            <a:off x="1824120" y="2990160"/>
            <a:ext cx="328320" cy="328320"/>
          </a:xfrm>
          <a:prstGeom prst="rect">
            <a:avLst/>
          </a:prstGeom>
          <a:solidFill>
            <a:srgbClr val="2C3E50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77" name="Shape 11"/>
          <p:cNvSpPr/>
          <p:nvPr/>
        </p:nvSpPr>
        <p:spPr>
          <a:xfrm>
            <a:off x="1943280" y="2560320"/>
            <a:ext cx="90720" cy="907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78" name="Shape 12"/>
          <p:cNvSpPr/>
          <p:nvPr/>
        </p:nvSpPr>
        <p:spPr>
          <a:xfrm>
            <a:off x="1943280" y="3657600"/>
            <a:ext cx="90720" cy="907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79" name="Shape 13"/>
          <p:cNvSpPr/>
          <p:nvPr/>
        </p:nvSpPr>
        <p:spPr>
          <a:xfrm>
            <a:off x="1394640" y="3108960"/>
            <a:ext cx="90720" cy="907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80" name="Shape 14"/>
          <p:cNvSpPr/>
          <p:nvPr/>
        </p:nvSpPr>
        <p:spPr>
          <a:xfrm>
            <a:off x="2491920" y="3108960"/>
            <a:ext cx="90720" cy="907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81" name="Text 15"/>
          <p:cNvSpPr/>
          <p:nvPr/>
        </p:nvSpPr>
        <p:spPr>
          <a:xfrm>
            <a:off x="731520" y="3703320"/>
            <a:ext cx="251388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i="1" strike="noStrike" spc="-1">
                <a:solidFill>
                  <a:srgbClr val="27AE60"/>
                </a:solidFill>
                <a:latin typeface="Calibri"/>
                <a:ea typeface="Calibri"/>
              </a:rPr>
              <a:t>Verde Sur→Norte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382" name="Text 16"/>
          <p:cNvSpPr/>
          <p:nvPr/>
        </p:nvSpPr>
        <p:spPr>
          <a:xfrm>
            <a:off x="731520" y="3867840"/>
            <a:ext cx="251388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strike="noStrike" spc="-1">
                <a:solidFill>
                  <a:srgbClr val="2C3E50"/>
                </a:solidFill>
                <a:latin typeface="Calibri"/>
                <a:ea typeface="Calibri"/>
              </a:rPr>
              <a:t>cam_sur detecta tráfico · flujo SN tiene prioridad</a:t>
            </a:r>
            <a:endParaRPr lang="es-CL" sz="800" b="0" strike="noStrike" spc="-1">
              <a:latin typeface="Arial"/>
            </a:endParaRPr>
          </a:p>
        </p:txBody>
      </p:sp>
      <p:sp>
        <p:nvSpPr>
          <p:cNvPr id="383" name="Shape 17"/>
          <p:cNvSpPr/>
          <p:nvPr/>
        </p:nvSpPr>
        <p:spPr>
          <a:xfrm>
            <a:off x="3493080" y="2194560"/>
            <a:ext cx="2696760" cy="187380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84" name="Shape 18"/>
          <p:cNvSpPr/>
          <p:nvPr/>
        </p:nvSpPr>
        <p:spPr>
          <a:xfrm>
            <a:off x="3493080" y="2194560"/>
            <a:ext cx="2696760" cy="319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85" name="Text 19"/>
          <p:cNvSpPr/>
          <p:nvPr/>
        </p:nvSpPr>
        <p:spPr>
          <a:xfrm>
            <a:off x="3584520" y="2194560"/>
            <a:ext cx="2513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94">
                <a:solidFill>
                  <a:srgbClr val="FFFFFF"/>
                </a:solidFill>
                <a:latin typeface="Calibri"/>
                <a:ea typeface="Calibri"/>
              </a:rPr>
              <a:t>FASE_EO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386" name="Shape 20"/>
          <p:cNvSpPr/>
          <p:nvPr/>
        </p:nvSpPr>
        <p:spPr>
          <a:xfrm>
            <a:off x="4338720" y="2990160"/>
            <a:ext cx="1005120" cy="32832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87" name="Shape 21"/>
          <p:cNvSpPr/>
          <p:nvPr/>
        </p:nvSpPr>
        <p:spPr>
          <a:xfrm>
            <a:off x="4677120" y="2651760"/>
            <a:ext cx="328320" cy="1005120"/>
          </a:xfrm>
          <a:prstGeom prst="rect">
            <a:avLst/>
          </a:prstGeom>
          <a:solidFill>
            <a:srgbClr val="2C3E50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88" name="Shape 22"/>
          <p:cNvSpPr/>
          <p:nvPr/>
        </p:nvSpPr>
        <p:spPr>
          <a:xfrm>
            <a:off x="4677120" y="2990160"/>
            <a:ext cx="328320" cy="328320"/>
          </a:xfrm>
          <a:prstGeom prst="rect">
            <a:avLst/>
          </a:prstGeom>
          <a:solidFill>
            <a:srgbClr val="2C3E50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89" name="Shape 23"/>
          <p:cNvSpPr/>
          <p:nvPr/>
        </p:nvSpPr>
        <p:spPr>
          <a:xfrm>
            <a:off x="4795920" y="2560320"/>
            <a:ext cx="90720" cy="907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90" name="Shape 24"/>
          <p:cNvSpPr/>
          <p:nvPr/>
        </p:nvSpPr>
        <p:spPr>
          <a:xfrm>
            <a:off x="4795920" y="3657600"/>
            <a:ext cx="90720" cy="907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91" name="Shape 25"/>
          <p:cNvSpPr/>
          <p:nvPr/>
        </p:nvSpPr>
        <p:spPr>
          <a:xfrm>
            <a:off x="4247280" y="3108960"/>
            <a:ext cx="90720" cy="907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92" name="Shape 26"/>
          <p:cNvSpPr/>
          <p:nvPr/>
        </p:nvSpPr>
        <p:spPr>
          <a:xfrm>
            <a:off x="5344560" y="3108960"/>
            <a:ext cx="90720" cy="907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93" name="Text 27"/>
          <p:cNvSpPr/>
          <p:nvPr/>
        </p:nvSpPr>
        <p:spPr>
          <a:xfrm>
            <a:off x="3584520" y="3703320"/>
            <a:ext cx="251388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i="1" strike="noStrike" spc="-1">
                <a:solidFill>
                  <a:srgbClr val="27AE60"/>
                </a:solidFill>
                <a:latin typeface="Calibri"/>
                <a:ea typeface="Calibri"/>
              </a:rPr>
              <a:t>Verde Este→Oeste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394" name="Text 28"/>
          <p:cNvSpPr/>
          <p:nvPr/>
        </p:nvSpPr>
        <p:spPr>
          <a:xfrm>
            <a:off x="3584520" y="3867840"/>
            <a:ext cx="251388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strike="noStrike" spc="-1">
                <a:solidFill>
                  <a:srgbClr val="2C3E50"/>
                </a:solidFill>
                <a:latin typeface="Calibri"/>
                <a:ea typeface="Calibri"/>
              </a:rPr>
              <a:t>cam_este detecta tráfico · flujo EO tiene prioridad</a:t>
            </a:r>
            <a:endParaRPr lang="es-CL" sz="800" b="0" strike="noStrike" spc="-1">
              <a:latin typeface="Arial"/>
            </a:endParaRPr>
          </a:p>
        </p:txBody>
      </p:sp>
      <p:sp>
        <p:nvSpPr>
          <p:cNvPr id="395" name="Shape 29"/>
          <p:cNvSpPr/>
          <p:nvPr/>
        </p:nvSpPr>
        <p:spPr>
          <a:xfrm>
            <a:off x="6346080" y="2194560"/>
            <a:ext cx="2696760" cy="187380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96" name="Shape 30"/>
          <p:cNvSpPr/>
          <p:nvPr/>
        </p:nvSpPr>
        <p:spPr>
          <a:xfrm>
            <a:off x="6346080" y="2194560"/>
            <a:ext cx="2696760" cy="319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97" name="Text 31"/>
          <p:cNvSpPr/>
          <p:nvPr/>
        </p:nvSpPr>
        <p:spPr>
          <a:xfrm>
            <a:off x="6437520" y="2194560"/>
            <a:ext cx="2513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94">
                <a:solidFill>
                  <a:srgbClr val="FFFFFF"/>
                </a:solidFill>
                <a:latin typeface="Calibri"/>
                <a:ea typeface="Calibri"/>
              </a:rPr>
              <a:t>EMERGENCIA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398" name="Shape 32"/>
          <p:cNvSpPr/>
          <p:nvPr/>
        </p:nvSpPr>
        <p:spPr>
          <a:xfrm>
            <a:off x="7191720" y="2990160"/>
            <a:ext cx="1005120" cy="328320"/>
          </a:xfrm>
          <a:prstGeom prst="rect">
            <a:avLst/>
          </a:prstGeom>
          <a:solidFill>
            <a:srgbClr val="2C3E50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99" name="Shape 33"/>
          <p:cNvSpPr/>
          <p:nvPr/>
        </p:nvSpPr>
        <p:spPr>
          <a:xfrm>
            <a:off x="7530120" y="2651760"/>
            <a:ext cx="328320" cy="1005120"/>
          </a:xfrm>
          <a:prstGeom prst="rect">
            <a:avLst/>
          </a:prstGeom>
          <a:solidFill>
            <a:srgbClr val="2C3E50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00" name="Shape 34"/>
          <p:cNvSpPr/>
          <p:nvPr/>
        </p:nvSpPr>
        <p:spPr>
          <a:xfrm>
            <a:off x="7530120" y="2990160"/>
            <a:ext cx="328320" cy="32832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01" name="Shape 35"/>
          <p:cNvSpPr/>
          <p:nvPr/>
        </p:nvSpPr>
        <p:spPr>
          <a:xfrm>
            <a:off x="7648920" y="2560320"/>
            <a:ext cx="90720" cy="907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02" name="Shape 36"/>
          <p:cNvSpPr/>
          <p:nvPr/>
        </p:nvSpPr>
        <p:spPr>
          <a:xfrm>
            <a:off x="7648920" y="3657600"/>
            <a:ext cx="90720" cy="907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03" name="Shape 37"/>
          <p:cNvSpPr/>
          <p:nvPr/>
        </p:nvSpPr>
        <p:spPr>
          <a:xfrm>
            <a:off x="7100280" y="3108960"/>
            <a:ext cx="90720" cy="907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04" name="Shape 38"/>
          <p:cNvSpPr/>
          <p:nvPr/>
        </p:nvSpPr>
        <p:spPr>
          <a:xfrm>
            <a:off x="8197560" y="3108960"/>
            <a:ext cx="90720" cy="907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05" name="Text 39"/>
          <p:cNvSpPr/>
          <p:nvPr/>
        </p:nvSpPr>
        <p:spPr>
          <a:xfrm>
            <a:off x="6437520" y="3703320"/>
            <a:ext cx="251388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i="1" strike="noStrike" spc="-1">
                <a:solidFill>
                  <a:srgbClr val="C0392B"/>
                </a:solidFill>
                <a:latin typeface="Calibri"/>
                <a:ea typeface="Calibri"/>
              </a:rPr>
              <a:t>Verde solo en aprox.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406" name="Text 40"/>
          <p:cNvSpPr/>
          <p:nvPr/>
        </p:nvSpPr>
        <p:spPr>
          <a:xfrm>
            <a:off x="6437520" y="3867840"/>
            <a:ext cx="251388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strike="noStrike" spc="-1">
                <a:solidFill>
                  <a:srgbClr val="2C3E50"/>
                </a:solidFill>
                <a:latin typeface="Calibri"/>
                <a:ea typeface="Calibri"/>
              </a:rPr>
              <a:t>Vehículo emergencia · Resto en rojo</a:t>
            </a:r>
            <a:endParaRPr lang="es-CL" sz="800" b="0" strike="noStrike" spc="-1">
              <a:latin typeface="Arial"/>
            </a:endParaRPr>
          </a:p>
        </p:txBody>
      </p:sp>
      <p:sp>
        <p:nvSpPr>
          <p:cNvPr id="407" name="Shape 41"/>
          <p:cNvSpPr/>
          <p:nvPr/>
        </p:nvSpPr>
        <p:spPr>
          <a:xfrm>
            <a:off x="9198720" y="2194560"/>
            <a:ext cx="2696760" cy="187380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08" name="Shape 42"/>
          <p:cNvSpPr/>
          <p:nvPr/>
        </p:nvSpPr>
        <p:spPr>
          <a:xfrm>
            <a:off x="9198720" y="2194560"/>
            <a:ext cx="2696760" cy="319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09" name="Text 43"/>
          <p:cNvSpPr/>
          <p:nvPr/>
        </p:nvSpPr>
        <p:spPr>
          <a:xfrm>
            <a:off x="9290160" y="2194560"/>
            <a:ext cx="2513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94">
                <a:solidFill>
                  <a:srgbClr val="FFFFFF"/>
                </a:solidFill>
                <a:latin typeface="Calibri"/>
                <a:ea typeface="Calibri"/>
              </a:rPr>
              <a:t>FALLA SEGURA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410" name="Shape 44"/>
          <p:cNvSpPr/>
          <p:nvPr/>
        </p:nvSpPr>
        <p:spPr>
          <a:xfrm>
            <a:off x="10044720" y="2990160"/>
            <a:ext cx="1005120" cy="328320"/>
          </a:xfrm>
          <a:prstGeom prst="rect">
            <a:avLst/>
          </a:prstGeom>
          <a:solidFill>
            <a:srgbClr val="2C3E50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11" name="Shape 45"/>
          <p:cNvSpPr/>
          <p:nvPr/>
        </p:nvSpPr>
        <p:spPr>
          <a:xfrm>
            <a:off x="10383120" y="2651760"/>
            <a:ext cx="328320" cy="1005120"/>
          </a:xfrm>
          <a:prstGeom prst="rect">
            <a:avLst/>
          </a:prstGeom>
          <a:solidFill>
            <a:srgbClr val="2C3E50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12" name="Shape 46"/>
          <p:cNvSpPr/>
          <p:nvPr/>
        </p:nvSpPr>
        <p:spPr>
          <a:xfrm>
            <a:off x="10383120" y="2990160"/>
            <a:ext cx="328320" cy="328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13" name="Shape 47"/>
          <p:cNvSpPr/>
          <p:nvPr/>
        </p:nvSpPr>
        <p:spPr>
          <a:xfrm>
            <a:off x="10501920" y="2560320"/>
            <a:ext cx="90720" cy="907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14" name="Shape 48"/>
          <p:cNvSpPr/>
          <p:nvPr/>
        </p:nvSpPr>
        <p:spPr>
          <a:xfrm>
            <a:off x="10501920" y="3657600"/>
            <a:ext cx="90720" cy="907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15" name="Shape 49"/>
          <p:cNvSpPr/>
          <p:nvPr/>
        </p:nvSpPr>
        <p:spPr>
          <a:xfrm>
            <a:off x="9953280" y="3108960"/>
            <a:ext cx="90720" cy="907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16" name="Shape 50"/>
          <p:cNvSpPr/>
          <p:nvPr/>
        </p:nvSpPr>
        <p:spPr>
          <a:xfrm>
            <a:off x="11050560" y="3108960"/>
            <a:ext cx="90720" cy="907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17" name="Text 51"/>
          <p:cNvSpPr/>
          <p:nvPr/>
        </p:nvSpPr>
        <p:spPr>
          <a:xfrm>
            <a:off x="9290160" y="3703320"/>
            <a:ext cx="251388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i="1" strike="noStrike" spc="-1">
                <a:solidFill>
                  <a:srgbClr val="F39C12"/>
                </a:solidFill>
                <a:latin typeface="Calibri"/>
                <a:ea typeface="Calibri"/>
              </a:rPr>
              <a:t>Amarillo parpadeante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418" name="Text 52"/>
          <p:cNvSpPr/>
          <p:nvPr/>
        </p:nvSpPr>
        <p:spPr>
          <a:xfrm>
            <a:off x="9290160" y="3867840"/>
            <a:ext cx="251388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strike="noStrike" spc="-1">
                <a:solidFill>
                  <a:srgbClr val="2C3E50"/>
                </a:solidFill>
                <a:latin typeface="Calibri"/>
                <a:ea typeface="Calibri"/>
              </a:rPr>
              <a:t>Cámara sin visibilidad → ciclo fijo</a:t>
            </a:r>
            <a:endParaRPr lang="es-CL" sz="800" b="0" strike="noStrike" spc="-1">
              <a:latin typeface="Arial"/>
            </a:endParaRPr>
          </a:p>
        </p:txBody>
      </p:sp>
      <p:sp>
        <p:nvSpPr>
          <p:cNvPr id="419" name="Text 53"/>
          <p:cNvSpPr/>
          <p:nvPr/>
        </p:nvSpPr>
        <p:spPr>
          <a:xfrm>
            <a:off x="640080" y="425196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C3E50"/>
                </a:solidFill>
                <a:latin typeface="Georgia"/>
                <a:ea typeface="Georgia"/>
              </a:rPr>
              <a:t>Reglas en orden de prioridad (de mayor a menor)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420" name="Shape 54"/>
          <p:cNvSpPr/>
          <p:nvPr/>
        </p:nvSpPr>
        <p:spPr>
          <a:xfrm>
            <a:off x="640080" y="4526280"/>
            <a:ext cx="2157120" cy="11422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21" name="Shape 55"/>
          <p:cNvSpPr/>
          <p:nvPr/>
        </p:nvSpPr>
        <p:spPr>
          <a:xfrm>
            <a:off x="640080" y="4526280"/>
            <a:ext cx="72360" cy="11422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22" name="Text 56"/>
          <p:cNvSpPr/>
          <p:nvPr/>
        </p:nvSpPr>
        <p:spPr>
          <a:xfrm>
            <a:off x="777240" y="4663440"/>
            <a:ext cx="54792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F39C12"/>
                </a:solidFill>
                <a:latin typeface="Georgia"/>
                <a:ea typeface="Georgia"/>
              </a:rPr>
              <a:t>0</a:t>
            </a:r>
            <a:endParaRPr lang="es-CL" sz="4000" b="0" strike="noStrike" spc="-1">
              <a:latin typeface="Arial"/>
            </a:endParaRPr>
          </a:p>
        </p:txBody>
      </p:sp>
      <p:sp>
        <p:nvSpPr>
          <p:cNvPr id="423" name="Text 57"/>
          <p:cNvSpPr/>
          <p:nvPr/>
        </p:nvSpPr>
        <p:spPr>
          <a:xfrm>
            <a:off x="1417320" y="4709160"/>
            <a:ext cx="12884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2C3E50"/>
                </a:solidFill>
                <a:latin typeface="Calibri"/>
                <a:ea typeface="Calibri"/>
              </a:rPr>
              <a:t>Falla segura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424" name="Text 58"/>
          <p:cNvSpPr/>
          <p:nvPr/>
        </p:nvSpPr>
        <p:spPr>
          <a:xfrm>
            <a:off x="1417320" y="5120640"/>
            <a:ext cx="12884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Cámara sin visibilidad/señal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425" name="Shape 59"/>
          <p:cNvSpPr/>
          <p:nvPr/>
        </p:nvSpPr>
        <p:spPr>
          <a:xfrm>
            <a:off x="2889360" y="4526280"/>
            <a:ext cx="2157120" cy="11422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26" name="Shape 60"/>
          <p:cNvSpPr/>
          <p:nvPr/>
        </p:nvSpPr>
        <p:spPr>
          <a:xfrm>
            <a:off x="2889360" y="4526280"/>
            <a:ext cx="72360" cy="1142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27" name="Text 61"/>
          <p:cNvSpPr/>
          <p:nvPr/>
        </p:nvSpPr>
        <p:spPr>
          <a:xfrm>
            <a:off x="3026520" y="4663440"/>
            <a:ext cx="54792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C0392B"/>
                </a:solidFill>
                <a:latin typeface="Georgia"/>
                <a:ea typeface="Georgia"/>
              </a:rPr>
              <a:t>1</a:t>
            </a:r>
            <a:endParaRPr lang="es-CL" sz="4000" b="0" strike="noStrike" spc="-1">
              <a:latin typeface="Arial"/>
            </a:endParaRPr>
          </a:p>
        </p:txBody>
      </p:sp>
      <p:sp>
        <p:nvSpPr>
          <p:cNvPr id="428" name="Text 62"/>
          <p:cNvSpPr/>
          <p:nvPr/>
        </p:nvSpPr>
        <p:spPr>
          <a:xfrm>
            <a:off x="3666600" y="4709160"/>
            <a:ext cx="12884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2C3E50"/>
                </a:solidFill>
                <a:latin typeface="Calibri"/>
                <a:ea typeface="Calibri"/>
              </a:rPr>
              <a:t>Emergencia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429" name="Text 63"/>
          <p:cNvSpPr/>
          <p:nvPr/>
        </p:nvSpPr>
        <p:spPr>
          <a:xfrm>
            <a:off x="3666600" y="5120640"/>
            <a:ext cx="12884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Latch inmediato · salida 5s sin detección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430" name="Shape 64"/>
          <p:cNvSpPr/>
          <p:nvPr/>
        </p:nvSpPr>
        <p:spPr>
          <a:xfrm>
            <a:off x="5139000" y="4526280"/>
            <a:ext cx="2157120" cy="11422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31" name="Shape 65"/>
          <p:cNvSpPr/>
          <p:nvPr/>
        </p:nvSpPr>
        <p:spPr>
          <a:xfrm>
            <a:off x="5139000" y="4526280"/>
            <a:ext cx="72360" cy="11422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32" name="Text 66"/>
          <p:cNvSpPr/>
          <p:nvPr/>
        </p:nvSpPr>
        <p:spPr>
          <a:xfrm>
            <a:off x="5276160" y="4663440"/>
            <a:ext cx="54792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2C3E50"/>
                </a:solidFill>
                <a:latin typeface="Georgia"/>
                <a:ea typeface="Georgia"/>
              </a:rPr>
              <a:t>2</a:t>
            </a:r>
            <a:endParaRPr lang="es-CL" sz="4000" b="0" strike="noStrike" spc="-1">
              <a:latin typeface="Arial"/>
            </a:endParaRPr>
          </a:p>
        </p:txBody>
      </p:sp>
      <p:sp>
        <p:nvSpPr>
          <p:cNvPr id="433" name="Text 67"/>
          <p:cNvSpPr/>
          <p:nvPr/>
        </p:nvSpPr>
        <p:spPr>
          <a:xfrm>
            <a:off x="5916240" y="4709160"/>
            <a:ext cx="12884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2C3E50"/>
                </a:solidFill>
                <a:latin typeface="Calibri"/>
                <a:ea typeface="Calibri"/>
              </a:rPr>
              <a:t>Densidad NS/EO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434" name="Text 68"/>
          <p:cNvSpPr/>
          <p:nvPr/>
        </p:nvSpPr>
        <p:spPr>
          <a:xfrm>
            <a:off x="5916240" y="5120640"/>
            <a:ext cx="12884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Diferencia ≥5 veh · min 20s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435" name="Shape 69"/>
          <p:cNvSpPr/>
          <p:nvPr/>
        </p:nvSpPr>
        <p:spPr>
          <a:xfrm>
            <a:off x="7388280" y="4526280"/>
            <a:ext cx="2157120" cy="11422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36" name="Shape 70"/>
          <p:cNvSpPr/>
          <p:nvPr/>
        </p:nvSpPr>
        <p:spPr>
          <a:xfrm>
            <a:off x="7388280" y="4526280"/>
            <a:ext cx="72360" cy="11422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37" name="Text 71"/>
          <p:cNvSpPr/>
          <p:nvPr/>
        </p:nvSpPr>
        <p:spPr>
          <a:xfrm>
            <a:off x="7525440" y="4663440"/>
            <a:ext cx="54792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2C3E50"/>
                </a:solidFill>
                <a:latin typeface="Georgia"/>
                <a:ea typeface="Georgia"/>
              </a:rPr>
              <a:t>3</a:t>
            </a:r>
            <a:endParaRPr lang="es-CL" sz="4000" b="0" strike="noStrike" spc="-1">
              <a:latin typeface="Arial"/>
            </a:endParaRPr>
          </a:p>
        </p:txBody>
      </p:sp>
      <p:sp>
        <p:nvSpPr>
          <p:cNvPr id="438" name="Text 72"/>
          <p:cNvSpPr/>
          <p:nvPr/>
        </p:nvSpPr>
        <p:spPr>
          <a:xfrm>
            <a:off x="8165520" y="4709160"/>
            <a:ext cx="12884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2C3E50"/>
                </a:solidFill>
                <a:latin typeface="Calibri"/>
                <a:ea typeface="Calibri"/>
              </a:rPr>
              <a:t>Ciclo normal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439" name="Text 73"/>
          <p:cNvSpPr/>
          <p:nvPr/>
        </p:nvSpPr>
        <p:spPr>
          <a:xfrm>
            <a:off x="8165520" y="5120640"/>
            <a:ext cx="12884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Timer: 750 frames (30s)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440" name="Shape 74"/>
          <p:cNvSpPr/>
          <p:nvPr/>
        </p:nvSpPr>
        <p:spPr>
          <a:xfrm>
            <a:off x="9637920" y="4526280"/>
            <a:ext cx="2157120" cy="11422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41" name="Shape 75"/>
          <p:cNvSpPr/>
          <p:nvPr/>
        </p:nvSpPr>
        <p:spPr>
          <a:xfrm>
            <a:off x="9637920" y="4526280"/>
            <a:ext cx="72360" cy="114228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42" name="Text 76"/>
          <p:cNvSpPr/>
          <p:nvPr/>
        </p:nvSpPr>
        <p:spPr>
          <a:xfrm>
            <a:off x="9775080" y="4663440"/>
            <a:ext cx="54792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p>
            <a:r>
              <a:rPr lang="es-CL" sz="4000" b="1" i="0" dirty="0">
                <a:solidFill>
                  <a:srgbClr val="95A5A6"/>
                </a:solidFill>
              </a:rPr>
              <a:t>T</a:t>
            </a:r>
            <a:endParaRPr lang="es-CL" sz="4000" b="1" i="0" dirty="0">
              <a:solidFill>
                <a:srgbClr val="95A5A6"/>
              </a:solidFill>
            </a:endParaRPr>
          </a:p>
        </p:txBody>
      </p:sp>
      <p:sp>
        <p:nvSpPr>
          <p:cNvPr id="443" name="Text 77"/>
          <p:cNvSpPr/>
          <p:nvPr/>
        </p:nvSpPr>
        <p:spPr>
          <a:xfrm>
            <a:off x="10415160" y="4709160"/>
            <a:ext cx="12884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p>
            <a:r>
              <a:rPr lang="es-CL" sz="1100" b="1" i="0" dirty="0">
                <a:solidFill>
                  <a:srgbClr val="2C3E50"/>
                </a:solidFill>
              </a:rPr>
              <a:t>Transición</a:t>
            </a:r>
            <a:endParaRPr lang="es-CL" sz="1100" b="1" i="0" dirty="0">
              <a:solidFill>
                <a:srgbClr val="2C3E50"/>
              </a:solidFill>
            </a:endParaRPr>
          </a:p>
        </p:txBody>
      </p:sp>
      <p:sp>
        <p:nvSpPr>
          <p:cNvPr id="444" name="Text 78"/>
          <p:cNvSpPr/>
          <p:nvPr/>
        </p:nvSpPr>
        <p:spPr>
          <a:xfrm>
            <a:off x="10415160" y="5120640"/>
            <a:ext cx="12884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p>
            <a:r>
              <a:rPr lang="es-CL" sz="900" b="0" i="1" dirty="0">
                <a:solidFill>
                  <a:srgbClr val="95A5A6"/>
                </a:solidFill>
              </a:rPr>
              <a:t>Amarillo 3s entre fases · 75 frames</a:t>
            </a:r>
            <a:endParaRPr lang="es-CL" sz="900" b="0" i="1" dirty="0">
              <a:solidFill>
                <a:srgbClr val="95A5A6"/>
              </a:solidFill>
            </a:endParaRPr>
          </a:p>
        </p:txBody>
      </p:sp>
      <p:sp>
        <p:nvSpPr>
          <p:cNvPr id="445" name="Shape 79"/>
          <p:cNvSpPr/>
          <p:nvPr/>
        </p:nvSpPr>
        <p:spPr>
          <a:xfrm>
            <a:off x="640080" y="5806440"/>
            <a:ext cx="10972080" cy="5022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46" name="Text 80"/>
          <p:cNvSpPr/>
          <p:nvPr/>
        </p:nvSpPr>
        <p:spPr>
          <a:xfrm>
            <a:off x="640080" y="5806440"/>
            <a:ext cx="1097208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F39C12"/>
                </a:solidFill>
                <a:latin typeface="Calibri"/>
                <a:ea typeface="Calibri"/>
              </a:rPr>
              <a:t>Filosofía: </a:t>
            </a: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Calibri"/>
              </a:rPr>
              <a:t>un semáforo predecible es siempre preferible a uno inteligente pero impredecible.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447" name="Text 81"/>
          <p:cNvSpPr/>
          <p:nvPr/>
        </p:nvSpPr>
        <p:spPr>
          <a:xfrm>
            <a:off x="457200" y="6446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Sistema de Semáforo Inteligente · Diplomado IA UBB 2026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448" name="Text 82"/>
          <p:cNvSpPr/>
          <p:nvPr/>
        </p:nvSpPr>
        <p:spPr>
          <a:xfrm>
            <a:off x="11247120" y="644652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10 / 15</a:t>
            </a:r>
            <a:endParaRPr lang="es-CL" sz="9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ext 0"/>
          <p:cNvSpPr/>
          <p:nvPr/>
        </p:nvSpPr>
        <p:spPr>
          <a:xfrm>
            <a:off x="457200" y="320040"/>
            <a:ext cx="10965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strike="noStrike" spc="-1">
                <a:solidFill>
                  <a:srgbClr val="C0392B"/>
                </a:solidFill>
                <a:latin typeface="Georgia"/>
                <a:ea typeface="Georgia"/>
              </a:rPr>
              <a:t>10</a:t>
            </a:r>
            <a:endParaRPr lang="es-CL" sz="6000" b="0" strike="noStrike" spc="-1">
              <a:latin typeface="Arial"/>
            </a:endParaRPr>
          </a:p>
        </p:txBody>
      </p:sp>
      <p:sp>
        <p:nvSpPr>
          <p:cNvPr id="450" name="Text 1"/>
          <p:cNvSpPr/>
          <p:nvPr/>
        </p:nvSpPr>
        <p:spPr>
          <a:xfrm>
            <a:off x="1554480" y="502920"/>
            <a:ext cx="1014912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strike="noStrike" spc="-1">
                <a:solidFill>
                  <a:srgbClr val="2C3E50"/>
                </a:solidFill>
                <a:latin typeface="Georgia"/>
                <a:ea typeface="Georgia"/>
              </a:rPr>
              <a:t>Entrenamiento — hiperparámetros clave</a:t>
            </a:r>
            <a:endParaRPr lang="es-CL" sz="3000" b="0" strike="noStrike" spc="-1">
              <a:latin typeface="Arial"/>
            </a:endParaRPr>
          </a:p>
        </p:txBody>
      </p:sp>
      <p:sp>
        <p:nvSpPr>
          <p:cNvPr id="451" name="Shape 2"/>
          <p:cNvSpPr/>
          <p:nvPr/>
        </p:nvSpPr>
        <p:spPr>
          <a:xfrm>
            <a:off x="457200" y="1280160"/>
            <a:ext cx="456480" cy="54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52" name="Text 3"/>
          <p:cNvSpPr/>
          <p:nvPr/>
        </p:nvSpPr>
        <p:spPr>
          <a:xfrm>
            <a:off x="1554480" y="141732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Transfer learning desde COCO · Early stopping · Reproducibilidad</a:t>
            </a:r>
            <a:endParaRPr lang="es-CL" sz="1400" b="0" strike="noStrike" spc="-1">
              <a:latin typeface="Arial"/>
            </a:endParaRPr>
          </a:p>
        </p:txBody>
      </p:sp>
      <p:graphicFrame>
        <p:nvGraphicFramePr>
          <p:cNvPr id="453" name="Table 0"/>
          <p:cNvGraphicFramePr/>
          <p:nvPr/>
        </p:nvGraphicFramePr>
        <p:xfrm>
          <a:off x="640080" y="1965960"/>
          <a:ext cx="10972800" cy="35110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486400"/>
              </a:tblGrid>
              <a:tr h="2923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Hiperparámetro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Valor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Justificación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solidFill>
                      <a:srgbClr val="2C3E50"/>
                    </a:solidFill>
                  </a:tcPr>
                </a:tc>
              </a:tr>
              <a:tr h="2923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Modelo base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YOLOv8s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Balance precisión/velocidad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2923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Pesos iniciales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yolov8s.pt (COCO)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Transfer learning desde 80 clases generales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2923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Épocas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50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Suficientes con augmentation y early stopping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2923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Patience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10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Early stopping si no mejora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2923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Imgsz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640 × 640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Estándar YOLOv8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2923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Batch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16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Ajustar a VRAM disponible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2923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Optimizador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AdamW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Converge rápido en fine-tuning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2923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LR inicial / sched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0.01 / coseno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Decae suavemente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2923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Mosaic / MixUp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1.0 / 0.15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Augmentation principal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2923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HSV (h/s/v)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0.015 / 0.7 / 0.4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Robustez a balizas y luz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29556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Seed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42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2C3E50"/>
                          </a:solidFill>
                          <a:latin typeface="Calibri"/>
                          <a:ea typeface="Calibri"/>
                        </a:rPr>
                        <a:t>Reproducibilidad</a:t>
                      </a:r>
                      <a:endParaRPr lang="es-CL" sz="1100" b="0" strike="noStrike" spc="-1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DDDDDD"/>
                      </a:solidFill>
                    </a:lnL>
                    <a:lnR w="6480">
                      <a:solidFill>
                        <a:srgbClr val="DDDDDD"/>
                      </a:solidFill>
                    </a:lnR>
                    <a:lnT w="6480">
                      <a:solidFill>
                        <a:srgbClr val="DDDDDD"/>
                      </a:solidFill>
                    </a:lnT>
                    <a:lnB w="6480">
                      <a:solidFill>
                        <a:srgbClr val="DDDDD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54" name="Text 4"/>
          <p:cNvSpPr/>
          <p:nvPr/>
        </p:nvSpPr>
        <p:spPr>
          <a:xfrm>
            <a:off x="457200" y="6446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Sistema de Semáforo Inteligente · Diplomado IA UBB 2026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455" name="Text 5"/>
          <p:cNvSpPr/>
          <p:nvPr/>
        </p:nvSpPr>
        <p:spPr>
          <a:xfrm>
            <a:off x="11247120" y="644652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11 / 15</a:t>
            </a:r>
            <a:endParaRPr lang="es-CL" sz="9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ext 0"/>
          <p:cNvSpPr/>
          <p:nvPr/>
        </p:nvSpPr>
        <p:spPr>
          <a:xfrm>
            <a:off x="457200" y="320040"/>
            <a:ext cx="10965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strike="noStrike" spc="-1">
                <a:solidFill>
                  <a:srgbClr val="C0392B"/>
                </a:solidFill>
                <a:latin typeface="Georgia"/>
                <a:ea typeface="Georgia"/>
              </a:rPr>
              <a:t>11</a:t>
            </a:r>
            <a:endParaRPr lang="es-CL" sz="6000" b="0" strike="noStrike" spc="-1">
              <a:latin typeface="Arial"/>
            </a:endParaRPr>
          </a:p>
        </p:txBody>
      </p:sp>
      <p:sp>
        <p:nvSpPr>
          <p:cNvPr id="457" name="Text 1"/>
          <p:cNvSpPr/>
          <p:nvPr/>
        </p:nvSpPr>
        <p:spPr>
          <a:xfrm>
            <a:off x="1554480" y="502920"/>
            <a:ext cx="1014912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strike="noStrike" spc="-1">
                <a:solidFill>
                  <a:srgbClr val="2C3E50"/>
                </a:solidFill>
                <a:latin typeface="Georgia"/>
                <a:ea typeface="Georgia"/>
              </a:rPr>
              <a:t>Métricas — resultados reales</a:t>
            </a:r>
            <a:endParaRPr lang="es-CL" sz="3000" b="0" strike="noStrike" spc="-1">
              <a:latin typeface="Arial"/>
            </a:endParaRPr>
          </a:p>
        </p:txBody>
      </p:sp>
      <p:sp>
        <p:nvSpPr>
          <p:cNvPr id="458" name="Shape 2"/>
          <p:cNvSpPr/>
          <p:nvPr/>
        </p:nvSpPr>
        <p:spPr>
          <a:xfrm>
            <a:off x="457200" y="1280160"/>
            <a:ext cx="456480" cy="54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59" name="Text 3"/>
          <p:cNvSpPr/>
          <p:nvPr/>
        </p:nvSpPr>
        <p:spPr>
          <a:xfrm>
            <a:off x="1554480" y="141732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Resultados exp2 (50 épocas) vs objetivos originales</a:t>
            </a:r>
            <a:endParaRPr lang="es-CL" sz="1400" b="0" strike="noStrike" spc="-1">
              <a:latin typeface="Arial"/>
            </a:endParaRPr>
          </a:p>
        </p:txBody>
      </p:sp>
      <p:sp>
        <p:nvSpPr>
          <p:cNvPr id="460" name="Shape 4"/>
          <p:cNvSpPr/>
          <p:nvPr/>
        </p:nvSpPr>
        <p:spPr>
          <a:xfrm>
            <a:off x="640080" y="2011680"/>
            <a:ext cx="5485680" cy="1233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61" name="Text 5"/>
          <p:cNvSpPr/>
          <p:nvPr/>
        </p:nvSpPr>
        <p:spPr>
          <a:xfrm>
            <a:off x="822960" y="2240280"/>
            <a:ext cx="255960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Georgia"/>
                <a:ea typeface="Georgia"/>
              </a:rPr>
              <a:t>0.614</a:t>
            </a:r>
            <a:endParaRPr lang="es-CL" sz="4000" b="0" strike="noStrike" spc="-1">
              <a:latin typeface="Arial"/>
            </a:endParaRPr>
          </a:p>
        </p:txBody>
      </p:sp>
      <p:sp>
        <p:nvSpPr>
          <p:cNvPr id="462" name="Text 6"/>
          <p:cNvSpPr/>
          <p:nvPr/>
        </p:nvSpPr>
        <p:spPr>
          <a:xfrm>
            <a:off x="3474720" y="2240280"/>
            <a:ext cx="2605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libri"/>
                <a:ea typeface="Calibri"/>
              </a:rPr>
              <a:t>Recall global (exp2)</a:t>
            </a:r>
            <a:endParaRPr lang="es-CL" sz="1600" b="0" strike="noStrike" spc="-1">
              <a:latin typeface="Arial"/>
            </a:endParaRPr>
          </a:p>
        </p:txBody>
      </p:sp>
      <p:sp>
        <p:nvSpPr>
          <p:cNvPr id="463" name="Text 7"/>
          <p:cNvSpPr/>
          <p:nvPr/>
        </p:nvSpPr>
        <p:spPr>
          <a:xfrm>
            <a:off x="3474720" y="2697480"/>
            <a:ext cx="2605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FFFFFF"/>
                </a:solidFill>
                <a:latin typeface="Calibri"/>
                <a:ea typeface="Calibri"/>
              </a:rPr>
              <a:t>Objetivo era ≥0.90 · debounce 10 frames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464" name="Shape 8"/>
          <p:cNvSpPr/>
          <p:nvPr/>
        </p:nvSpPr>
        <p:spPr>
          <a:xfrm>
            <a:off x="640080" y="3383280"/>
            <a:ext cx="5485680" cy="12337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65" name="Text 9"/>
          <p:cNvSpPr/>
          <p:nvPr/>
        </p:nvSpPr>
        <p:spPr>
          <a:xfrm>
            <a:off x="822960" y="3611880"/>
            <a:ext cx="255960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Georgia"/>
                <a:ea typeface="Georgia"/>
              </a:rPr>
              <a:t>0.620</a:t>
            </a:r>
            <a:endParaRPr lang="es-CL" sz="4000" b="0" strike="noStrike" spc="-1">
              <a:latin typeface="Arial"/>
            </a:endParaRPr>
          </a:p>
        </p:txBody>
      </p:sp>
      <p:sp>
        <p:nvSpPr>
          <p:cNvPr id="466" name="Text 10"/>
          <p:cNvSpPr/>
          <p:nvPr/>
        </p:nvSpPr>
        <p:spPr>
          <a:xfrm>
            <a:off x="3474720" y="3611880"/>
            <a:ext cx="2605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libri"/>
                <a:ea typeface="Calibri"/>
              </a:rPr>
              <a:t>mAP@0.5 (exp2)</a:t>
            </a:r>
            <a:endParaRPr lang="es-CL" sz="1600" b="0" strike="noStrike" spc="-1">
              <a:latin typeface="Arial"/>
            </a:endParaRPr>
          </a:p>
        </p:txBody>
      </p:sp>
      <p:sp>
        <p:nvSpPr>
          <p:cNvPr id="467" name="Text 11"/>
          <p:cNvSpPr/>
          <p:nvPr/>
        </p:nvSpPr>
        <p:spPr>
          <a:xfrm>
            <a:off x="3474720" y="4069080"/>
            <a:ext cx="2605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FFFFFF"/>
                </a:solidFill>
                <a:latin typeface="Calibri"/>
                <a:ea typeface="Calibri"/>
              </a:rPr>
              <a:t>exp1 obtuvo 0.5646 · mejora +9.8%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468" name="Shape 12"/>
          <p:cNvSpPr/>
          <p:nvPr/>
        </p:nvSpPr>
        <p:spPr>
          <a:xfrm>
            <a:off x="640080" y="4754880"/>
            <a:ext cx="5485680" cy="1233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69" name="Text 13"/>
          <p:cNvSpPr/>
          <p:nvPr/>
        </p:nvSpPr>
        <p:spPr>
          <a:xfrm>
            <a:off x="822960" y="4983480"/>
            <a:ext cx="255960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Georgia"/>
                <a:ea typeface="Georgia"/>
              </a:rPr>
              <a:t>0.667</a:t>
            </a:r>
            <a:endParaRPr lang="es-CL" sz="4000" b="0" strike="noStrike" spc="-1">
              <a:latin typeface="Arial"/>
            </a:endParaRPr>
          </a:p>
        </p:txBody>
      </p:sp>
      <p:sp>
        <p:nvSpPr>
          <p:cNvPr id="470" name="Text 14"/>
          <p:cNvSpPr/>
          <p:nvPr/>
        </p:nvSpPr>
        <p:spPr>
          <a:xfrm>
            <a:off x="3474720" y="4983480"/>
            <a:ext cx="2605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libri"/>
                <a:ea typeface="Calibri"/>
              </a:rPr>
              <a:t>Precisión (exp2)</a:t>
            </a:r>
            <a:endParaRPr lang="es-CL" sz="1600" b="0" strike="noStrike" spc="-1">
              <a:latin typeface="Arial"/>
            </a:endParaRPr>
          </a:p>
        </p:txBody>
      </p:sp>
      <p:sp>
        <p:nvSpPr>
          <p:cNvPr id="471" name="Text 15"/>
          <p:cNvSpPr/>
          <p:nvPr/>
        </p:nvSpPr>
        <p:spPr>
          <a:xfrm>
            <a:off x="3474720" y="5440680"/>
            <a:ext cx="2605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FFFFFF"/>
                </a:solidFill>
                <a:latin typeface="Calibri"/>
                <a:ea typeface="Calibri"/>
              </a:rPr>
              <a:t>exp1 obtuvo 0.561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472" name="Shape 16"/>
          <p:cNvSpPr/>
          <p:nvPr/>
        </p:nvSpPr>
        <p:spPr>
          <a:xfrm>
            <a:off x="6400800" y="2011680"/>
            <a:ext cx="5211360" cy="42512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73" name="Shape 17"/>
          <p:cNvSpPr/>
          <p:nvPr/>
        </p:nvSpPr>
        <p:spPr>
          <a:xfrm>
            <a:off x="6400800" y="2011680"/>
            <a:ext cx="109080" cy="4251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74" name="Text 18"/>
          <p:cNvSpPr/>
          <p:nvPr/>
        </p:nvSpPr>
        <p:spPr>
          <a:xfrm>
            <a:off x="6675120" y="2148840"/>
            <a:ext cx="484560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2C3E50"/>
                </a:solidFill>
                <a:latin typeface="Georgia"/>
                <a:ea typeface="Georgia"/>
              </a:rPr>
              <a:t>Comparativa modelos</a:t>
            </a:r>
            <a:endParaRPr lang="es-CL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2C3E50"/>
                </a:solidFill>
                <a:latin typeface="Georgia"/>
                <a:ea typeface="Georgia"/>
              </a:rPr>
              <a:t>exp1 vs exp2</a:t>
            </a:r>
            <a:endParaRPr lang="es-CL" sz="1600" b="0" strike="noStrike" spc="-1">
              <a:latin typeface="Arial"/>
            </a:endParaRPr>
          </a:p>
        </p:txBody>
      </p:sp>
      <p:sp>
        <p:nvSpPr>
          <p:cNvPr id="475" name="Text 19"/>
          <p:cNvSpPr/>
          <p:nvPr/>
        </p:nvSpPr>
        <p:spPr>
          <a:xfrm>
            <a:off x="6675120" y="2971800"/>
            <a:ext cx="4845600" cy="319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200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C3E50"/>
                </a:solidFill>
                <a:latin typeface="Calibri"/>
                <a:ea typeface="Calibri"/>
              </a:rPr>
              <a:t>exp1 (15ep·416px):</a:t>
            </a:r>
            <a:endParaRPr lang="es-CL" sz="12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0"/>
              </a:spcAft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mAP@0.5=0.5646 · P=0.561 · R=0.541</a:t>
            </a:r>
            <a:endParaRPr lang="es-CL" sz="12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0"/>
              </a:spcAft>
              <a:buNone/>
              <a:tabLst>
                <a:tab pos="0" algn="l"/>
              </a:tabLst>
            </a:pPr>
            <a:endParaRPr lang="es-CL" sz="12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0"/>
              </a:spcAft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s-CL" sz="12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0"/>
              </a:spcAft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C0392B"/>
                </a:solidFill>
                <a:latin typeface="Calibri"/>
                <a:ea typeface="Calibri"/>
              </a:rPr>
              <a:t>exp2 (50ep·640px):</a:t>
            </a:r>
            <a:endParaRPr lang="es-CL" sz="12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0"/>
              </a:spcAft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2C3E50"/>
                </a:solidFill>
                <a:latin typeface="Calibri"/>
                <a:ea typeface="Calibri"/>
              </a:rPr>
              <a:t>mAP@0.5=0.620 · P=0.667 · R=0.614</a:t>
            </a:r>
            <a:endParaRPr lang="es-CL" sz="12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0"/>
              </a:spcAft>
              <a:buNone/>
              <a:tabLst>
                <a:tab pos="0" algn="l"/>
              </a:tabLst>
            </a:pPr>
            <a:endParaRPr lang="es-CL" sz="12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0"/>
              </a:spcAft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s-CL" sz="1200" b="0" strike="noStrike" spc="-1">
              <a:latin typeface="Arial"/>
            </a:endParaRPr>
          </a:p>
          <a:p>
            <a:pPr>
              <a:lnSpc>
                <a:spcPct val="100000"/>
              </a:lnSpc>
              <a:spcAft>
                <a:spcPts val="200"/>
              </a:spcAft>
              <a:buNone/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2C3E50"/>
                </a:solidFill>
                <a:latin typeface="Calibri"/>
                <a:ea typeface="Calibri"/>
              </a:rPr>
              <a:t>Mejora del 9.8% en mAP@0.5 con el modelo de 50 épocas.</a:t>
            </a:r>
            <a:endParaRPr lang="es-CL" sz="1200" b="0" strike="noStrike" spc="-1">
              <a:latin typeface="Arial"/>
            </a:endParaRPr>
          </a:p>
        </p:txBody>
      </p:sp>
      <p:sp>
        <p:nvSpPr>
          <p:cNvPr id="476" name="Text 20"/>
          <p:cNvSpPr/>
          <p:nvPr/>
        </p:nvSpPr>
        <p:spPr>
          <a:xfrm>
            <a:off x="457200" y="6446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Sistema de Semáforo Inteligente · Diplomado IA UBB 2026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477" name="Text 21"/>
          <p:cNvSpPr/>
          <p:nvPr/>
        </p:nvSpPr>
        <p:spPr>
          <a:xfrm>
            <a:off x="11247120" y="644652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12 / 15</a:t>
            </a:r>
            <a:endParaRPr lang="es-CL" sz="9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Text 0"/>
          <p:cNvSpPr/>
          <p:nvPr/>
        </p:nvSpPr>
        <p:spPr>
          <a:xfrm>
            <a:off x="457200" y="320040"/>
            <a:ext cx="10965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strike="noStrike" spc="-1">
                <a:solidFill>
                  <a:srgbClr val="C0392B"/>
                </a:solidFill>
                <a:latin typeface="Georgia"/>
                <a:ea typeface="Georgia"/>
              </a:rPr>
              <a:t>12</a:t>
            </a:r>
            <a:endParaRPr lang="es-CL" sz="6000" b="0" strike="noStrike" spc="-1">
              <a:latin typeface="Arial"/>
            </a:endParaRPr>
          </a:p>
        </p:txBody>
      </p:sp>
      <p:sp>
        <p:nvSpPr>
          <p:cNvPr id="479" name="Text 1"/>
          <p:cNvSpPr/>
          <p:nvPr/>
        </p:nvSpPr>
        <p:spPr>
          <a:xfrm>
            <a:off x="1554480" y="502920"/>
            <a:ext cx="1014912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strike="noStrike" spc="-1">
                <a:solidFill>
                  <a:srgbClr val="2C3E50"/>
                </a:solidFill>
                <a:latin typeface="Georgia"/>
                <a:ea typeface="Georgia"/>
              </a:rPr>
              <a:t>Demo — el sistema en acción</a:t>
            </a:r>
            <a:endParaRPr lang="es-CL" sz="3000" b="0" strike="noStrike" spc="-1">
              <a:latin typeface="Arial"/>
            </a:endParaRPr>
          </a:p>
        </p:txBody>
      </p:sp>
      <p:sp>
        <p:nvSpPr>
          <p:cNvPr id="480" name="Shape 2"/>
          <p:cNvSpPr/>
          <p:nvPr/>
        </p:nvSpPr>
        <p:spPr>
          <a:xfrm>
            <a:off x="457200" y="1280160"/>
            <a:ext cx="456480" cy="54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81" name="Text 3"/>
          <p:cNvSpPr/>
          <p:nvPr/>
        </p:nvSpPr>
        <p:spPr>
          <a:xfrm>
            <a:off x="1554480" y="141732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Demo web Flask · Streaming MJPEG en tiempo real</a:t>
            </a:r>
            <a:endParaRPr lang="es-CL" sz="1400" b="0" strike="noStrike" spc="-1">
              <a:latin typeface="Arial"/>
            </a:endParaRPr>
          </a:p>
        </p:txBody>
      </p:sp>
      <p:sp>
        <p:nvSpPr>
          <p:cNvPr id="482" name="Shape 4"/>
          <p:cNvSpPr/>
          <p:nvPr/>
        </p:nvSpPr>
        <p:spPr>
          <a:xfrm>
            <a:off x="640080" y="1965960"/>
            <a:ext cx="5439960" cy="42969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83" name="Shape 5"/>
          <p:cNvSpPr/>
          <p:nvPr/>
        </p:nvSpPr>
        <p:spPr>
          <a:xfrm>
            <a:off x="640080" y="1965960"/>
            <a:ext cx="5439960" cy="547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84" name="Text 6"/>
          <p:cNvSpPr/>
          <p:nvPr/>
        </p:nvSpPr>
        <p:spPr>
          <a:xfrm>
            <a:off x="822960" y="1965960"/>
            <a:ext cx="507420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EMERGENCIA · Latch inmediato</a:t>
            </a:r>
            <a:endParaRPr lang="es-CL" sz="1400" b="0" strike="noStrike" spc="-1">
              <a:latin typeface="Arial"/>
            </a:endParaRPr>
          </a:p>
        </p:txBody>
      </p:sp>
      <p:sp>
        <p:nvSpPr>
          <p:cNvPr id="485" name="Shape 7"/>
          <p:cNvSpPr/>
          <p:nvPr/>
        </p:nvSpPr>
        <p:spPr>
          <a:xfrm>
            <a:off x="868680" y="2651760"/>
            <a:ext cx="4982760" cy="20566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486" name="Image 0" descr="preencode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3108960" y="3246120"/>
            <a:ext cx="776520" cy="776520"/>
          </a:xfrm>
          <a:prstGeom prst="rect">
            <a:avLst/>
          </a:prstGeom>
          <a:ln w="0">
            <a:noFill/>
          </a:ln>
        </p:spPr>
      </p:pic>
      <p:sp>
        <p:nvSpPr>
          <p:cNvPr id="487" name="Text 8"/>
          <p:cNvSpPr/>
          <p:nvPr/>
        </p:nvSpPr>
        <p:spPr>
          <a:xfrm>
            <a:off x="868680" y="4114800"/>
            <a:ext cx="49827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ECF0F1"/>
                </a:solidFill>
                <a:latin typeface="Calibri"/>
                <a:ea typeface="Calibri"/>
              </a:rPr>
              <a:t>Ambulancia detectada (conf ≥ 0.50) — activa latch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488" name="Text 9"/>
          <p:cNvSpPr/>
          <p:nvPr/>
        </p:nvSpPr>
        <p:spPr>
          <a:xfrm>
            <a:off x="868680" y="4754880"/>
            <a:ext cx="4982760" cy="14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  <a:ea typeface="Calibri"/>
              </a:rPr>
              <a:t>Activación: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1er frame con conf ≥ 0.50 activa emergencia al instante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  <a:ea typeface="Calibri"/>
              </a:rPr>
              <a:t>Transición: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27AE60"/>
                </a:solidFill>
                <a:latin typeface="Calibri"/>
                <a:ea typeface="Calibri"/>
              </a:rPr>
              <a:t>Amarillo 3s → EMERGENCIA (verde sobre aprox. ambulancia)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  <a:ea typeface="Calibri"/>
              </a:rPr>
              <a:t>Salida: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C0392B"/>
                </a:solidFill>
                <a:latin typeface="Calibri"/>
                <a:ea typeface="Calibri"/>
              </a:rPr>
              <a:t>5s consecutivas sin detección → amarillo 3s → fase anterior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489" name="Shape 10"/>
          <p:cNvSpPr/>
          <p:nvPr/>
        </p:nvSpPr>
        <p:spPr>
          <a:xfrm>
            <a:off x="6217920" y="1965960"/>
            <a:ext cx="5439960" cy="42969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90" name="Shape 11"/>
          <p:cNvSpPr/>
          <p:nvPr/>
        </p:nvSpPr>
        <p:spPr>
          <a:xfrm>
            <a:off x="6217920" y="1965960"/>
            <a:ext cx="5439960" cy="547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91" name="Text 12"/>
          <p:cNvSpPr/>
          <p:nvPr/>
        </p:nvSpPr>
        <p:spPr>
          <a:xfrm>
            <a:off x="6400800" y="1965960"/>
            <a:ext cx="507420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DEMO WEB · Flask + MJPEG Streaming</a:t>
            </a:r>
            <a:endParaRPr lang="es-CL" sz="1400" b="0" strike="noStrike" spc="-1">
              <a:latin typeface="Arial"/>
            </a:endParaRPr>
          </a:p>
        </p:txBody>
      </p:sp>
      <p:sp>
        <p:nvSpPr>
          <p:cNvPr id="492" name="Shape 13"/>
          <p:cNvSpPr/>
          <p:nvPr/>
        </p:nvSpPr>
        <p:spPr>
          <a:xfrm>
            <a:off x="6446520" y="2651760"/>
            <a:ext cx="4982760" cy="2056680"/>
          </a:xfrm>
          <a:prstGeom prst="rect">
            <a:avLst/>
          </a:prstGeom>
          <a:solidFill>
            <a:srgbClr val="8B98A5">
              <a:alpha val="70000"/>
            </a:srgbClr>
          </a:solidFill>
          <a:ln w="12700">
            <a:solidFill>
              <a:srgbClr val="8B98A5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493" name="Image 1" descr="preencode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8686800" y="3246120"/>
            <a:ext cx="776520" cy="776520"/>
          </a:xfrm>
          <a:prstGeom prst="rect">
            <a:avLst/>
          </a:prstGeom>
          <a:ln w="0">
            <a:noFill/>
          </a:ln>
        </p:spPr>
      </p:pic>
      <p:sp>
        <p:nvSpPr>
          <p:cNvPr id="494" name="Text 14"/>
          <p:cNvSpPr/>
          <p:nvPr/>
        </p:nvSpPr>
        <p:spPr>
          <a:xfrm>
            <a:off x="6446520" y="4114800"/>
            <a:ext cx="49827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2C3E50"/>
                </a:solidFill>
                <a:latin typeface="Calibri"/>
                <a:ea typeface="Calibri"/>
              </a:rPr>
              <a:t>Interfaz web · semáforos SVG reactivos</a:t>
            </a:r>
            <a:endParaRPr lang="es-CL" sz="1000" b="0" strike="noStrike" spc="-1">
              <a:latin typeface="Arial"/>
            </a:endParaRPr>
          </a:p>
        </p:txBody>
      </p:sp>
      <p:sp>
        <p:nvSpPr>
          <p:cNvPr id="495" name="Text 15"/>
          <p:cNvSpPr/>
          <p:nvPr/>
        </p:nvSpPr>
        <p:spPr>
          <a:xfrm>
            <a:off x="6446520" y="4754880"/>
            <a:ext cx="4982760" cy="14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  <a:ea typeface="Calibri"/>
              </a:rPr>
              <a:t>Servidor: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Flask en localhost:5000 · modelo preload al arrancar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  <a:ea typeface="Calibri"/>
              </a:rPr>
              <a:t>Video: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C0392B"/>
                </a:solidFill>
                <a:latin typeface="Calibri"/>
                <a:ea typeface="Calibri"/>
              </a:rPr>
              <a:t>Streaming MJPEG · cam_sur + cam_este simultáneas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  <a:ea typeface="Calibri"/>
              </a:rPr>
              <a:t>UI:</a:t>
            </a:r>
            <a:endParaRPr lang="es-CL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C0392B"/>
                </a:solidFill>
                <a:latin typeface="Calibri"/>
                <a:ea typeface="Calibri"/>
              </a:rPr>
              <a:t>Semáforos SVG animados · SSE cada 150ms · sin polling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496" name="Text 16"/>
          <p:cNvSpPr/>
          <p:nvPr/>
        </p:nvSpPr>
        <p:spPr>
          <a:xfrm>
            <a:off x="457200" y="6446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Sistema de Semáforo Inteligente · Diplomado IA UBB 2026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497" name="Text 17"/>
          <p:cNvSpPr/>
          <p:nvPr/>
        </p:nvSpPr>
        <p:spPr>
          <a:xfrm>
            <a:off x="11247120" y="644652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13 / 15</a:t>
            </a:r>
            <a:endParaRPr lang="es-CL" sz="9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C0392B"/>
                </a:solidFill>
              </a:rPr>
              <a:t>1</a:t>
            </a:r>
            <a:r>
              <a:rPr lang="es-ES_tradnl" sz="6600" b="1">
                <a:solidFill>
                  <a:srgbClr val="C0392B"/>
                </a:solidFill>
              </a:rPr>
              <a:t>3</a:t>
            </a:r>
            <a:endParaRPr lang="es-ES_tradnl" sz="6600" b="1">
              <a:solidFill>
                <a:srgbClr val="C0392B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54480" y="438912"/>
            <a:ext cx="45720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91640" y="34747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</a:rPr>
              <a:t>Hoja de Ruta de Implementación</a:t>
            </a:r>
            <a:endParaRPr sz="3000" b="1">
              <a:solidFill>
                <a:srgbClr val="2C3E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1640" y="10058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3 fases progresivas · del laboratorio a la intersección real</a:t>
            </a:r>
            <a:endParaRPr sz="1300" b="0">
              <a:solidFill>
                <a:srgbClr val="95A5A6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11274552" cy="365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3611880" cy="38404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36192"/>
            <a:ext cx="3465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FASE 01  ·  Generación y Entrenamiento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865376"/>
            <a:ext cx="3611880" cy="44622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02536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980B9"/>
                </a:solidFill>
              </a:rPr>
              <a:t>Hardware</a:t>
            </a:r>
            <a:endParaRPr sz="950" b="1">
              <a:solidFill>
                <a:srgbClr val="2980B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2203704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PC GPU NVIDIA (GTX 1650+ / 4 GB VRAM)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2569464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980B9"/>
                </a:solidFill>
              </a:rPr>
              <a:t>Cloud alternativo</a:t>
            </a:r>
            <a:endParaRPr sz="950" b="1">
              <a:solidFill>
                <a:srgbClr val="2980B9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2770632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Colab Pro · AWS EC2 p3 · Azure NC6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3136392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980B9"/>
                </a:solidFill>
              </a:rPr>
              <a:t>Framework IA</a:t>
            </a:r>
            <a:endParaRPr sz="950" b="1">
              <a:solidFill>
                <a:srgbClr val="2980B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928" y="333756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Python 3.10+ · PyTorch 2.x · YOLOv8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3703320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980B9"/>
                </a:solidFill>
              </a:rPr>
              <a:t>CUDA / Driver</a:t>
            </a:r>
            <a:endParaRPr sz="950" b="1">
              <a:solidFill>
                <a:srgbClr val="2980B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" y="3904488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Driver 595+ · CUDA 12.x · cuDNN 8.x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928" y="4270248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980B9"/>
                </a:solidFill>
              </a:rPr>
              <a:t>Dataset</a:t>
            </a:r>
            <a:endParaRPr sz="950" b="1">
              <a:solidFill>
                <a:srgbClr val="2980B9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" y="4471416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Roboflow · LabelImg · Albumentations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6928" y="4837176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980B9"/>
                </a:solidFill>
              </a:rPr>
              <a:t>Entorno</a:t>
            </a:r>
            <a:endParaRPr sz="950" b="1">
              <a:solidFill>
                <a:srgbClr val="2980B9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928" y="5038344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Jupyter · VSCode · Git + GitHub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06240" y="1481328"/>
            <a:ext cx="361188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9392" y="1536192"/>
            <a:ext cx="3465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FASE 02  ·  Pruebas en Laboratorio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206240" y="1865376"/>
            <a:ext cx="3611880" cy="44622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2002536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67E22"/>
                </a:solidFill>
              </a:rPr>
              <a:t>Hardware Edge</a:t>
            </a:r>
            <a:endParaRPr sz="950" b="1">
              <a:solidFill>
                <a:srgbClr val="E67E2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15968" y="2203704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Jetson Nano / Orin NX · Mini PC industrial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15968" y="2569464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67E22"/>
                </a:solidFill>
              </a:rPr>
              <a:t>Cámaras</a:t>
            </a:r>
            <a:endParaRPr sz="950" b="1">
              <a:solidFill>
                <a:srgbClr val="E67E2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15968" y="2770632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2–4 cámaras USB/IP HD 1080p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15968" y="3136392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67E22"/>
                </a:solidFill>
              </a:rPr>
              <a:t>Modelo</a:t>
            </a:r>
            <a:endParaRPr sz="950" b="1">
              <a:solidFill>
                <a:srgbClr val="E67E22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15968" y="333756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YOLOv8 → ONNX / TensorRT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15968" y="3703320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67E22"/>
                </a:solidFill>
              </a:rPr>
              <a:t>Red</a:t>
            </a:r>
            <a:endParaRPr sz="950" b="1">
              <a:solidFill>
                <a:srgbClr val="E67E22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315968" y="3904488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LAN local controlada · sin internet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15968" y="4270248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67E22"/>
                </a:solidFill>
              </a:rPr>
              <a:t>Control</a:t>
            </a:r>
            <a:endParaRPr sz="950" b="1">
              <a:solidFill>
                <a:srgbClr val="E67E22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15968" y="4471416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GPIO o mock del semáforo físico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315968" y="4837176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67E22"/>
                </a:solidFill>
              </a:rPr>
              <a:t>Criterio OK</a:t>
            </a:r>
            <a:endParaRPr sz="950" b="1">
              <a:solidFill>
                <a:srgbClr val="E67E22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15968" y="5038344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Latencia &lt; 100 ms · mAP ≥ 0.85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955280" y="1481328"/>
            <a:ext cx="361188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8432" y="1536192"/>
            <a:ext cx="3465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FASE 03  ·  Producción y Vida Real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955280" y="1865376"/>
            <a:ext cx="3611880" cy="44622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5008" y="2002536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7AE60"/>
                </a:solidFill>
              </a:rPr>
              <a:t>Hardware Ind.</a:t>
            </a:r>
            <a:endParaRPr sz="950" b="1">
              <a:solidFill>
                <a:srgbClr val="27AE6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065008" y="2203704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Jetson AGX Orin / PC ind. IP65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065008" y="2569464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7AE60"/>
                </a:solidFill>
              </a:rPr>
              <a:t>Cámaras</a:t>
            </a:r>
            <a:endParaRPr sz="950" b="1">
              <a:solidFill>
                <a:srgbClr val="27AE6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065008" y="2770632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IP66 · IR nocturno · antivandalismo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065008" y="3136392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7AE60"/>
                </a:solidFill>
              </a:rPr>
              <a:t>Conectividad</a:t>
            </a:r>
            <a:endParaRPr sz="950" b="1">
              <a:solidFill>
                <a:srgbClr val="27AE6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065008" y="333756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4G/5G o fibra + VPN cifrada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065008" y="3703320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7AE60"/>
                </a:solidFill>
              </a:rPr>
              <a:t>Integración</a:t>
            </a:r>
            <a:endParaRPr sz="950" b="1">
              <a:solidFill>
                <a:srgbClr val="27AE6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065008" y="3904488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RS-232/485 con controlador NEMA/ITS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065008" y="4270248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7AE60"/>
                </a:solidFill>
              </a:rPr>
              <a:t>Energía</a:t>
            </a:r>
            <a:endParaRPr sz="950" b="1">
              <a:solidFill>
                <a:srgbClr val="27AE6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065008" y="4471416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Fuente industrial + UPS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065008" y="4837176"/>
            <a:ext cx="3392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7AE60"/>
                </a:solidFill>
              </a:rPr>
              <a:t>Mantenimiento</a:t>
            </a:r>
            <a:endParaRPr sz="950" b="1">
              <a:solidFill>
                <a:srgbClr val="27AE6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065008" y="5038344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Updates remotos · logs · 24/7</a:t>
            </a:r>
            <a:endParaRPr sz="900" b="0">
              <a:solidFill>
                <a:srgbClr val="2C3E5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5A5A6"/>
                </a:solidFill>
              </a:rPr>
              <a:t>Sistema de Semáforo Inteligente · Diplomado IA UBB 2026</a:t>
            </a:r>
            <a:endParaRPr sz="900" b="0">
              <a:solidFill>
                <a:srgbClr val="95A5A6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515600" y="64922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5A5A6"/>
                </a:solidFill>
              </a:rPr>
              <a:t>14 / 16</a:t>
            </a:r>
            <a:endParaRPr sz="900" b="0">
              <a:solidFill>
                <a:srgbClr val="95A5A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Text 0"/>
          <p:cNvSpPr/>
          <p:nvPr/>
        </p:nvSpPr>
        <p:spPr>
          <a:xfrm>
            <a:off x="457200" y="320040"/>
            <a:ext cx="10965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strike="noStrike" spc="-1">
                <a:solidFill>
                  <a:srgbClr val="C0392B"/>
                </a:solidFill>
                <a:latin typeface="Georgia"/>
                <a:ea typeface="Georgia"/>
              </a:rPr>
              <a:t>1</a:t>
            </a:r>
            <a:r>
              <a:rPr lang="es-ES_tradnl" altLang="en-US" sz="6000" b="1" strike="noStrike" spc="-1">
                <a:solidFill>
                  <a:srgbClr val="C0392B"/>
                </a:solidFill>
                <a:latin typeface="Georgia"/>
                <a:ea typeface="Georgia"/>
              </a:rPr>
              <a:t>4</a:t>
            </a:r>
            <a:endParaRPr lang="es-ES_tradnl" altLang="en-US" sz="6000" b="1" strike="noStrike" spc="-1">
              <a:solidFill>
                <a:srgbClr val="C0392B"/>
              </a:solidFill>
              <a:latin typeface="Georgia"/>
              <a:ea typeface="Georgia"/>
            </a:endParaRPr>
          </a:p>
        </p:txBody>
      </p:sp>
      <p:sp>
        <p:nvSpPr>
          <p:cNvPr id="499" name="Text 1"/>
          <p:cNvSpPr/>
          <p:nvPr/>
        </p:nvSpPr>
        <p:spPr>
          <a:xfrm>
            <a:off x="1554480" y="502920"/>
            <a:ext cx="1014912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strike="noStrike" spc="-1">
                <a:solidFill>
                  <a:srgbClr val="2C3E50"/>
                </a:solidFill>
                <a:latin typeface="Georgia"/>
                <a:ea typeface="Georgia"/>
              </a:rPr>
              <a:t>Conclusiones y próximos pasos</a:t>
            </a:r>
            <a:endParaRPr lang="es-CL" sz="3000" b="0" strike="noStrike" spc="-1">
              <a:latin typeface="Arial"/>
            </a:endParaRPr>
          </a:p>
        </p:txBody>
      </p:sp>
      <p:sp>
        <p:nvSpPr>
          <p:cNvPr id="500" name="Shape 2"/>
          <p:cNvSpPr/>
          <p:nvPr/>
        </p:nvSpPr>
        <p:spPr>
          <a:xfrm>
            <a:off x="457200" y="1280160"/>
            <a:ext cx="456480" cy="54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1" name="Shape 3"/>
          <p:cNvSpPr/>
          <p:nvPr/>
        </p:nvSpPr>
        <p:spPr>
          <a:xfrm>
            <a:off x="640080" y="1828800"/>
            <a:ext cx="5439960" cy="22395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2" name="Shape 4"/>
          <p:cNvSpPr/>
          <p:nvPr/>
        </p:nvSpPr>
        <p:spPr>
          <a:xfrm>
            <a:off x="640080" y="1828800"/>
            <a:ext cx="109080" cy="2239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3" name="Shape 5"/>
          <p:cNvSpPr/>
          <p:nvPr/>
        </p:nvSpPr>
        <p:spPr>
          <a:xfrm>
            <a:off x="914400" y="2103120"/>
            <a:ext cx="502200" cy="502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504" name="Image 0" descr="preencode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1033200" y="22129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505" name="Text 6"/>
          <p:cNvSpPr/>
          <p:nvPr/>
        </p:nvSpPr>
        <p:spPr>
          <a:xfrm>
            <a:off x="1554480" y="212148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2C3E50"/>
                </a:solidFill>
                <a:latin typeface="Georgia"/>
                <a:ea typeface="Georgia"/>
              </a:rPr>
              <a:t>Lo que se logró</a:t>
            </a:r>
            <a:endParaRPr lang="es-CL" sz="1600" b="0" strike="noStrike" spc="-1">
              <a:latin typeface="Arial"/>
            </a:endParaRPr>
          </a:p>
        </p:txBody>
      </p:sp>
      <p:sp>
        <p:nvSpPr>
          <p:cNvPr id="506" name="Text 7"/>
          <p:cNvSpPr/>
          <p:nvPr/>
        </p:nvSpPr>
        <p:spPr>
          <a:xfrm>
            <a:off x="1005840" y="2743200"/>
            <a:ext cx="4891320" cy="12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ControladorInterseccion 5 fases: SN, EO, TRANSICION, EMERGENCIA, FALLA SEGURA</a:t>
            </a:r>
            <a:endParaRPr lang="es-CL" sz="1100" b="0" strike="noStrike" spc="-1">
              <a:latin typeface="Arial"/>
            </a:endParaRPr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Reentrenamiento 50 épocas: mAP@0.5 mejoró 0.5646 → 0.620 (+9.8%)</a:t>
            </a:r>
            <a:endParaRPr lang="es-CL" sz="1100" b="0" strike="noStrike" spc="-1">
              <a:latin typeface="Arial"/>
            </a:endParaRPr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Latch de emergencia: activación inmediata + salida tras 5s continuas</a:t>
            </a:r>
            <a:endParaRPr lang="es-CL" sz="1100" b="0" strike="noStrike" spc="-1">
              <a:latin typeface="Arial"/>
            </a:endParaRPr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Demo web Flask: MJPEG · semáforos SVG · transición amarilla 3s entre fases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507" name="Shape 8"/>
          <p:cNvSpPr/>
          <p:nvPr/>
        </p:nvSpPr>
        <p:spPr>
          <a:xfrm>
            <a:off x="6263640" y="1828800"/>
            <a:ext cx="5439960" cy="22395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8" name="Shape 9"/>
          <p:cNvSpPr/>
          <p:nvPr/>
        </p:nvSpPr>
        <p:spPr>
          <a:xfrm>
            <a:off x="6263640" y="1828800"/>
            <a:ext cx="109080" cy="22395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9" name="Shape 10"/>
          <p:cNvSpPr/>
          <p:nvPr/>
        </p:nvSpPr>
        <p:spPr>
          <a:xfrm>
            <a:off x="6537960" y="2103120"/>
            <a:ext cx="502200" cy="502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510" name="Image 1" descr="preencode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656760" y="221292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511" name="Text 11"/>
          <p:cNvSpPr/>
          <p:nvPr/>
        </p:nvSpPr>
        <p:spPr>
          <a:xfrm>
            <a:off x="7178040" y="212148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2C3E50"/>
                </a:solidFill>
                <a:latin typeface="Georgia"/>
                <a:ea typeface="Georgia"/>
              </a:rPr>
              <a:t>Limitaciones</a:t>
            </a:r>
            <a:endParaRPr lang="es-CL" sz="1600" b="0" strike="noStrike" spc="-1">
              <a:latin typeface="Arial"/>
            </a:endParaRPr>
          </a:p>
        </p:txBody>
      </p:sp>
      <p:sp>
        <p:nvSpPr>
          <p:cNvPr id="512" name="Text 12"/>
          <p:cNvSpPr/>
          <p:nvPr/>
        </p:nvSpPr>
        <p:spPr>
          <a:xfrm>
            <a:off x="6629400" y="2743200"/>
            <a:ext cx="4891320" cy="12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Augmentation sintético no reemplaza datos reales</a:t>
            </a:r>
            <a:endParaRPr lang="es-CL" sz="1100" b="0" strike="noStrike" spc="-1">
              <a:latin typeface="Arial"/>
            </a:endParaRPr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Sin tracking entre frames (cada uno independiente)</a:t>
            </a:r>
            <a:endParaRPr lang="es-CL" sz="1100" b="0" strike="noStrike" spc="-1">
              <a:latin typeface="Arial"/>
            </a:endParaRPr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Umbrales heurísticos sin optimización formal</a:t>
            </a:r>
            <a:endParaRPr lang="es-CL" sz="1100" b="0" strike="noStrike" spc="-1">
              <a:latin typeface="Arial"/>
            </a:endParaRPr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Validación solo en imágenes, no en hardware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513" name="Shape 13"/>
          <p:cNvSpPr/>
          <p:nvPr/>
        </p:nvSpPr>
        <p:spPr>
          <a:xfrm>
            <a:off x="640080" y="4251960"/>
            <a:ext cx="5439960" cy="22395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14" name="Shape 14"/>
          <p:cNvSpPr/>
          <p:nvPr/>
        </p:nvSpPr>
        <p:spPr>
          <a:xfrm>
            <a:off x="640080" y="4251960"/>
            <a:ext cx="109080" cy="2239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15" name="Shape 15"/>
          <p:cNvSpPr/>
          <p:nvPr/>
        </p:nvSpPr>
        <p:spPr>
          <a:xfrm>
            <a:off x="914400" y="4526280"/>
            <a:ext cx="502200" cy="502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516" name="Image 2" descr="preencoded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033200" y="46360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517" name="Text 16"/>
          <p:cNvSpPr/>
          <p:nvPr/>
        </p:nvSpPr>
        <p:spPr>
          <a:xfrm>
            <a:off x="1554480" y="454464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2C3E50"/>
                </a:solidFill>
                <a:latin typeface="Georgia"/>
                <a:ea typeface="Georgia"/>
              </a:rPr>
              <a:t>Próximos pasos (M4)</a:t>
            </a:r>
            <a:endParaRPr lang="es-CL" sz="1600" b="0" strike="noStrike" spc="-1">
              <a:latin typeface="Arial"/>
            </a:endParaRPr>
          </a:p>
        </p:txBody>
      </p:sp>
      <p:sp>
        <p:nvSpPr>
          <p:cNvPr id="518" name="Text 17"/>
          <p:cNvSpPr/>
          <p:nvPr/>
        </p:nvSpPr>
        <p:spPr>
          <a:xfrm>
            <a:off x="1005840" y="5166360"/>
            <a:ext cx="4891320" cy="12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Exportar a ONNX / TensorRT</a:t>
            </a:r>
            <a:endParaRPr lang="es-CL" sz="1100" b="0" strike="noStrike" spc="-1">
              <a:latin typeface="Arial"/>
            </a:endParaRPr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Desplegar en Jetson Nano / Coral</a:t>
            </a:r>
            <a:endParaRPr lang="es-CL" sz="1100" b="0" strike="noStrike" spc="-1">
              <a:latin typeface="Arial"/>
            </a:endParaRPr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Integración con SCADA / MQTT</a:t>
            </a:r>
            <a:endParaRPr lang="es-CL" sz="1100" b="0" strike="noStrike" spc="-1">
              <a:latin typeface="Arial"/>
            </a:endParaRPr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MLOps: monitoreo y reentrenamiento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519" name="Shape 18"/>
          <p:cNvSpPr/>
          <p:nvPr/>
        </p:nvSpPr>
        <p:spPr>
          <a:xfrm>
            <a:off x="6263640" y="4251960"/>
            <a:ext cx="5439960" cy="22395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20" name="Shape 19"/>
          <p:cNvSpPr/>
          <p:nvPr/>
        </p:nvSpPr>
        <p:spPr>
          <a:xfrm>
            <a:off x="6263640" y="4251960"/>
            <a:ext cx="109080" cy="22395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21" name="Shape 20"/>
          <p:cNvSpPr/>
          <p:nvPr/>
        </p:nvSpPr>
        <p:spPr>
          <a:xfrm>
            <a:off x="6537960" y="4526280"/>
            <a:ext cx="502200" cy="50220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522" name="Image 3" descr="preencoded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6656760" y="46360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523" name="Text 21"/>
          <p:cNvSpPr/>
          <p:nvPr/>
        </p:nvSpPr>
        <p:spPr>
          <a:xfrm>
            <a:off x="7178040" y="454464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2C3E50"/>
                </a:solidFill>
                <a:latin typeface="Georgia"/>
                <a:ea typeface="Georgia"/>
              </a:rPr>
              <a:t>Mejoras técnicas</a:t>
            </a:r>
            <a:endParaRPr lang="es-CL" sz="1600" b="0" strike="noStrike" spc="-1">
              <a:latin typeface="Arial"/>
            </a:endParaRPr>
          </a:p>
        </p:txBody>
      </p:sp>
      <p:sp>
        <p:nvSpPr>
          <p:cNvPr id="524" name="Text 22"/>
          <p:cNvSpPr/>
          <p:nvPr/>
        </p:nvSpPr>
        <p:spPr>
          <a:xfrm>
            <a:off x="6629400" y="5166360"/>
            <a:ext cx="4891320" cy="12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Tracking multi-objeto (ByteTrack, DeepSORT)</a:t>
            </a:r>
            <a:endParaRPr lang="es-CL" sz="1100" b="0" strike="noStrike" spc="-1">
              <a:latin typeface="Arial"/>
            </a:endParaRPr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Reinforcement Learning para la política</a:t>
            </a:r>
            <a:endParaRPr lang="es-CL" sz="1100" b="0" strike="noStrike" spc="-1">
              <a:latin typeface="Arial"/>
            </a:endParaRPr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Cámara térmica como respaldo en visibilidad crítica</a:t>
            </a:r>
            <a:endParaRPr lang="es-CL" sz="1100" b="0" strike="noStrike" spc="-1">
              <a:latin typeface="Arial"/>
            </a:endParaRPr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Clr>
                <a:srgbClr val="2C3E50"/>
              </a:buClr>
              <a:buFont typeface="StarSymbol"/>
              <a:buChar char="▪"/>
            </a:pPr>
            <a:r>
              <a:rPr lang="en-US" sz="1100" b="0" strike="noStrike" spc="-1">
                <a:solidFill>
                  <a:srgbClr val="2C3E50"/>
                </a:solidFill>
                <a:latin typeface="Calibri"/>
                <a:ea typeface="Calibri"/>
              </a:rPr>
              <a:t>Dataset propio con neblina real en Concepción</a:t>
            </a:r>
            <a:endParaRPr lang="es-CL" sz="1100" b="0" strike="noStrike" spc="-1">
              <a:latin typeface="Arial"/>
            </a:endParaRPr>
          </a:p>
        </p:txBody>
      </p:sp>
      <p:sp>
        <p:nvSpPr>
          <p:cNvPr id="525" name="Text 23"/>
          <p:cNvSpPr/>
          <p:nvPr/>
        </p:nvSpPr>
        <p:spPr>
          <a:xfrm>
            <a:off x="457200" y="6446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Sistema de Semáforo Inteligente · Diplomado IA UBB 2026</a:t>
            </a:r>
            <a:endParaRPr lang="es-CL" sz="900" b="0" strike="noStrike" spc="-1">
              <a:latin typeface="Arial"/>
            </a:endParaRPr>
          </a:p>
        </p:txBody>
      </p:sp>
      <p:sp>
        <p:nvSpPr>
          <p:cNvPr id="526" name="Text 24"/>
          <p:cNvSpPr/>
          <p:nvPr/>
        </p:nvSpPr>
        <p:spPr>
          <a:xfrm>
            <a:off x="11247120" y="644652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95A5A6"/>
                </a:solidFill>
                <a:latin typeface="Calibri"/>
                <a:ea typeface="Calibri"/>
              </a:rPr>
              <a:t>14 / 15</a:t>
            </a:r>
            <a:endParaRPr lang="es-CL" sz="9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Shape 0"/>
          <p:cNvSpPr/>
          <p:nvPr/>
        </p:nvSpPr>
        <p:spPr>
          <a:xfrm>
            <a:off x="1188720" y="1463040"/>
            <a:ext cx="456480" cy="456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p/>
        </p:txBody>
      </p:sp>
      <p:sp>
        <p:nvSpPr>
          <p:cNvPr id="528" name="Shape 1"/>
          <p:cNvSpPr/>
          <p:nvPr/>
        </p:nvSpPr>
        <p:spPr>
          <a:xfrm>
            <a:off x="1188720" y="2011680"/>
            <a:ext cx="456480" cy="4564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p/>
        </p:txBody>
      </p:sp>
      <p:sp>
        <p:nvSpPr>
          <p:cNvPr id="529" name="Shape 2"/>
          <p:cNvSpPr/>
          <p:nvPr/>
        </p:nvSpPr>
        <p:spPr>
          <a:xfrm>
            <a:off x="1188720" y="2560320"/>
            <a:ext cx="456480" cy="456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p/>
        </p:txBody>
      </p:sp>
      <p:sp>
        <p:nvSpPr>
          <p:cNvPr id="530" name="Text 3"/>
          <p:cNvSpPr/>
          <p:nvPr/>
        </p:nvSpPr>
        <p:spPr>
          <a:xfrm>
            <a:off x="2103120" y="1463040"/>
            <a:ext cx="914328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400" b="1" strike="noStrike" spc="-1">
                <a:solidFill>
                  <a:srgbClr val="FFFFFF"/>
                </a:solidFill>
                <a:latin typeface="Georgia"/>
                <a:ea typeface="Georgia"/>
              </a:rPr>
              <a:t>Gracias</a:t>
            </a:r>
            <a:endParaRPr lang="es-CL" sz="8400" b="0" strike="noStrike" spc="-1">
              <a:latin typeface="Arial"/>
            </a:endParaRPr>
          </a:p>
        </p:txBody>
      </p:sp>
      <p:sp>
        <p:nvSpPr>
          <p:cNvPr id="531" name="Text 4"/>
          <p:cNvSpPr/>
          <p:nvPr/>
        </p:nvSpPr>
        <p:spPr>
          <a:xfrm>
            <a:off x="2103120" y="292608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i="1" strike="noStrike" spc="-1">
                <a:solidFill>
                  <a:srgbClr val="F39C12"/>
                </a:solidFill>
                <a:latin typeface="Calibri"/>
                <a:ea typeface="Calibri"/>
              </a:rPr>
              <a:t>Preguntas y discusión</a:t>
            </a:r>
            <a:endParaRPr lang="es-CL" sz="2400" b="0" strike="noStrike" spc="-1">
              <a:latin typeface="Arial"/>
            </a:endParaRPr>
          </a:p>
        </p:txBody>
      </p:sp>
      <p:sp>
        <p:nvSpPr>
          <p:cNvPr id="532" name="Shape 5"/>
          <p:cNvSpPr/>
          <p:nvPr/>
        </p:nvSpPr>
        <p:spPr>
          <a:xfrm>
            <a:off x="2103120" y="3840480"/>
            <a:ext cx="3657600" cy="360"/>
          </a:xfrm>
          <a:prstGeom prst="line">
            <a:avLst/>
          </a:prstGeom>
          <a:ln w="31750">
            <a:solidFill>
              <a:srgbClr val="C0392B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33" name="Text 6"/>
          <p:cNvSpPr/>
          <p:nvPr/>
        </p:nvSpPr>
        <p:spPr>
          <a:xfrm>
            <a:off x="2103120" y="411480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_tradnl" altLang="en-US" spc="-1">
                <a:solidFill>
                  <a:srgbClr val="ECF0F1"/>
                </a:solidFill>
                <a:latin typeface="Calibri"/>
                <a:ea typeface="Calibri"/>
                <a:sym typeface="+mn-ea"/>
              </a:rPr>
              <a:t>Fanny Balchen, Diego Mardones, Iván Viveros</a:t>
            </a:r>
            <a:endParaRPr lang="es-ES_tradnl" altLang="en-US" b="0" strike="noStrike" spc="-1">
              <a:solidFill>
                <a:srgbClr val="ECF0F1"/>
              </a:solidFill>
              <a:latin typeface="Calibri"/>
              <a:ea typeface="Calibri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CL" sz="1800" b="0" strike="noStrike" spc="-1">
              <a:latin typeface="Arial"/>
            </a:endParaRPr>
          </a:p>
        </p:txBody>
      </p:sp>
      <p:sp>
        <p:nvSpPr>
          <p:cNvPr id="534" name="Text 7"/>
          <p:cNvSpPr/>
          <p:nvPr/>
        </p:nvSpPr>
        <p:spPr>
          <a:xfrm>
            <a:off x="2103120" y="448056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CL" sz="1400" b="0" strike="noStrike" spc="-1">
              <a:latin typeface="Arial"/>
            </a:endParaRPr>
          </a:p>
        </p:txBody>
      </p:sp>
      <p:sp>
        <p:nvSpPr>
          <p:cNvPr id="536" name="Text 9"/>
          <p:cNvSpPr/>
          <p:nvPr/>
        </p:nvSpPr>
        <p:spPr>
          <a:xfrm>
            <a:off x="457200" y="6263640"/>
            <a:ext cx="112464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95A5A6"/>
                </a:solidFill>
                <a:latin typeface="Calibri"/>
                <a:ea typeface="Calibri"/>
              </a:rPr>
              <a:t>Diplomado en Tecnologías para Inteligencia Artificial · Universidad del Bío-Bío · 2026</a:t>
            </a:r>
            <a:endParaRPr lang="es-CL" sz="11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10296</Words>
  <Application>WPS Presentation</Application>
  <PresentationFormat/>
  <Paragraphs>712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7" baseType="lpstr">
      <vt:lpstr>Arial</vt:lpstr>
      <vt:lpstr>SimSun</vt:lpstr>
      <vt:lpstr>Wingdings</vt:lpstr>
      <vt:lpstr>Arial</vt:lpstr>
      <vt:lpstr>Nimbus Roman No9 L</vt:lpstr>
      <vt:lpstr>Symbol</vt:lpstr>
      <vt:lpstr>Times New Roman</vt:lpstr>
      <vt:lpstr>Calibri</vt:lpstr>
      <vt:lpstr>DejaVu Sans</vt:lpstr>
      <vt:lpstr>Georgia</vt:lpstr>
      <vt:lpstr>Gubbi</vt:lpstr>
      <vt:lpstr>Microsoft YaHei</vt:lpstr>
      <vt:lpstr>Droid Sans Fallback</vt:lpstr>
      <vt:lpstr>Arial Unicode MS</vt:lpstr>
      <vt:lpstr>OpenSymbol</vt:lpstr>
      <vt:lpstr>Abyssinica SIL</vt:lpstr>
      <vt:lpstr>DejaVu Sans</vt:lpstr>
      <vt:lpstr>Consolas</vt:lpstr>
      <vt:lpstr>StarSymbol</vt:lpstr>
      <vt:lpstr>C059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Semáforo Inteligente</dc:title>
  <dc:creator>Diplomado IA UBB</dc:creator>
  <dc:subject>PptxGenJS Presentation</dc:subject>
  <cp:lastModifiedBy>ivan.viveros</cp:lastModifiedBy>
  <cp:revision>7</cp:revision>
  <dcterms:created xsi:type="dcterms:W3CDTF">2026-06-21T23:58:02Z</dcterms:created>
  <dcterms:modified xsi:type="dcterms:W3CDTF">2026-06-21T23:58:02Z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  <property fmtid="{D5CDD505-2E9C-101B-9397-08002B2CF9AE}" pid="5" name="ICV">
    <vt:lpwstr/>
  </property>
  <property fmtid="{D5CDD505-2E9C-101B-9397-08002B2CF9AE}" pid="6" name="KSOProductBuildVer">
    <vt:lpwstr>3082-11.1.0.11711</vt:lpwstr>
  </property>
</Properties>
</file>